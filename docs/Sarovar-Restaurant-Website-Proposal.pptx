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69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D85A30">
              <a:alpha val="15000"/>
            </a:srgbClr>
          </a:solidFill>
          <a:ln w="12700">
            <a:solidFill>
              <a:srgbClr val="D85A3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D85A30">
              <a:alpha val="30000"/>
            </a:srgbClr>
          </a:solidFill>
          <a:ln w="12700">
            <a:solidFill>
              <a:srgbClr val="D85A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D85A30">
              <a:alpha val="12000"/>
            </a:srgbClr>
          </a:solidFill>
          <a:ln w="12700">
            <a:solidFill>
              <a:srgbClr val="D85A30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54864" cy="22860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🍽️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12344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SAROVAR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58368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· ROURKELA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2331720"/>
            <a:ext cx="2926080" cy="22860"/>
          </a:xfrm>
          <a:prstGeom prst="rect">
            <a:avLst/>
          </a:prstGeom>
          <a:solidFill>
            <a:srgbClr val="8A6A5A">
              <a:alpha val="60000"/>
            </a:srgbClr>
          </a:solidFill>
          <a:ln w="12700">
            <a:solidFill>
              <a:srgbClr val="8A6A5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688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Restaurant Website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312724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digital presence — online ordering, table reservations,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hall booking, admin dashboard &amp; coupon system.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4160520"/>
            <a:ext cx="1828800" cy="640080"/>
          </a:xfrm>
          <a:prstGeom prst="rect">
            <a:avLst/>
          </a:prstGeom>
          <a:solidFill>
            <a:srgbClr val="D85A30">
              <a:alpha val="20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160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Online Orders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70048" y="4160520"/>
            <a:ext cx="1828800" cy="640080"/>
          </a:xfrm>
          <a:prstGeom prst="rect">
            <a:avLst/>
          </a:prstGeom>
          <a:solidFill>
            <a:srgbClr val="D85A30">
              <a:alpha val="20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4160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Reservations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81728" y="4160520"/>
            <a:ext cx="1828800" cy="640080"/>
          </a:xfrm>
          <a:prstGeom prst="rect">
            <a:avLst/>
          </a:prstGeom>
          <a:solidFill>
            <a:srgbClr val="D85A30">
              <a:alpha val="20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4160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Event Booking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93408" y="4160520"/>
            <a:ext cx="1828800" cy="640080"/>
          </a:xfrm>
          <a:prstGeom prst="rect">
            <a:avLst/>
          </a:prstGeom>
          <a:solidFill>
            <a:srgbClr val="D85A30">
              <a:alpha val="20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4160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Admin Panel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🍽️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SAROVAR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444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377440" cy="22860"/>
          </a:xfrm>
          <a:prstGeom prst="rect">
            <a:avLst/>
          </a:prstGeom>
          <a:solidFill>
            <a:srgbClr val="D85A30">
              <a:alpha val="70000"/>
            </a:srgbClr>
          </a:solidFill>
          <a:ln w="12700">
            <a:solidFill>
              <a:srgbClr val="D85A30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57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new digital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platform.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41148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502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850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10698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 &amp; why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41148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502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850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0698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powerful modules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1490472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11880" y="15819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11880" y="19293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2148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visitors see &amp; do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490472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15819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19293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2148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back-office control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2569464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11880" y="2660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11880" y="3008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Coupon 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11880" y="3227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&amp; discounts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569464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63640" y="2660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63640" y="3008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3227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last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0" y="3648456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11880" y="37398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611880" y="4087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11880" y="4306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PROJECT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sarovar-restaurant.com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 Restaurant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A0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Platform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Sarovar Restaurant now has a fully-featured website built from scratch — covering every aspect of restaurant management and customer engagement.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1828800" cy="685800"/>
          </a:xfrm>
          <a:prstGeom prst="rect">
            <a:avLst/>
          </a:prstGeom>
          <a:solidFill>
            <a:srgbClr val="FAECE7"/>
          </a:solidFill>
          <a:ln w="12700">
            <a:solidFill>
              <a:srgbClr val="F0C8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93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3566160"/>
            <a:ext cx="1828800" cy="685800"/>
          </a:xfrm>
          <a:prstGeom prst="rect">
            <a:avLst/>
          </a:prstGeom>
          <a:solidFill>
            <a:srgbClr val="FAECE7"/>
          </a:solidFill>
          <a:ln w="12700">
            <a:solidFill>
              <a:srgbClr val="F0C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593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6032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built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1828800" cy="685800"/>
          </a:xfrm>
          <a:prstGeom prst="rect">
            <a:avLst/>
          </a:prstGeom>
          <a:solidFill>
            <a:srgbClr val="FAECE7"/>
          </a:solidFill>
          <a:ln w="12700">
            <a:solidFill>
              <a:srgbClr val="F0C8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727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4343400"/>
            <a:ext cx="1828800" cy="685800"/>
          </a:xfrm>
          <a:prstGeom prst="rect">
            <a:avLst/>
          </a:prstGeom>
          <a:solidFill>
            <a:srgbClr val="FAECE7"/>
          </a:solidFill>
          <a:ln w="12700">
            <a:solidFill>
              <a:srgbClr val="F0C8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60320" y="4727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deploy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114800" cy="3840480"/>
          </a:xfrm>
          <a:prstGeom prst="rect">
            <a:avLst/>
          </a:prstGeom>
          <a:solidFill>
            <a:srgbClr val="F8F5F2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40680" y="1298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Ordering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1536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cart, checkout &amp; order tracking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0680" y="184708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Reservations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2084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table with instant confirmation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🎉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239572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Hall Booking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2633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Weddings, birthdays, corporate events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0680" y="29443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3182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menu, customers, reports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349300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System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3730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discount codes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40680" y="40416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42793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admin login separately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Your Restaurant Needs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20116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508760"/>
            <a:ext cx="2011680" cy="5486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9768" y="2075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Ordering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35915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checkout, GST calc, COD &amp; UPI payment, order history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508760"/>
            <a:ext cx="20116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508760"/>
            <a:ext cx="201168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78608" y="2075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Booking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235915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Date/time/guests selection, instant status, cancellation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508760"/>
            <a:ext cx="20116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508760"/>
            <a:ext cx="201168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🎉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27448" y="2075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Booking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27448" y="235915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Silver/Gold/Platinum packages, date check, booking ref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508760"/>
            <a:ext cx="20116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508760"/>
            <a:ext cx="2011680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76288" y="2075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76288" y="235915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back-office: orders, menu, customers, reservations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200400"/>
            <a:ext cx="20116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200400"/>
            <a:ext cx="2011680" cy="54864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29768" y="3767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System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" y="40507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or flat discount, expiry, usage limit, live validation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68880" y="3200400"/>
            <a:ext cx="20116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8880" y="3200400"/>
            <a:ext cx="2011680" cy="54864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578608" y="3767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78608" y="40507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charts, peak hours, top items, monthly trends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3200400"/>
            <a:ext cx="20116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200400"/>
            <a:ext cx="2011680" cy="54864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727448" y="3767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27448" y="40507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auth, brute-force lock, admin access control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66560" y="3200400"/>
            <a:ext cx="20116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560" y="3200400"/>
            <a:ext cx="2011680" cy="54864"/>
          </a:xfrm>
          <a:prstGeom prst="rect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876288" y="3767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76288" y="40507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perfectly on mobile, tablet, and desktop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CUSTOMER EXPERIENCE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0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Seamless Journey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A0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Browse to Order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233172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" y="2459736"/>
            <a:ext cx="402336" cy="40233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2423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Land on Homepage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28346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hero slider, menu preview, gallery, testimonials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33172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9856" y="2459736"/>
            <a:ext cx="402336" cy="40233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2423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🍛  Browse Menu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9856" y="28346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category, veg/non-veg, add to cart instantly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233172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2459736"/>
            <a:ext cx="402336" cy="40233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93992" y="2423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Apply Coupon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28346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discount code, see savings live before paying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65760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2064" y="3785616"/>
            <a:ext cx="402336" cy="40233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" y="3749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Place Order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" y="416052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with name, address, COD or UPI payment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65760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19856" y="3785616"/>
            <a:ext cx="402336" cy="40233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9856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86200" y="3749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Track Orders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19856" y="416052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order history and status from My Orders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365760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27648" y="3785616"/>
            <a:ext cx="402336" cy="40233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93992" y="3749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Book Table / Event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27648" y="416052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table or book the hall for a special occasion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ADMIN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Back-Office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to manage everything — from a secure login page to live analytics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371600" cy="3291840"/>
          </a:xfrm>
          <a:prstGeom prst="rect">
            <a:avLst/>
          </a:prstGeom>
          <a:solidFill>
            <a:srgbClr val="140F0D"/>
          </a:solidFill>
          <a:ln w="12700">
            <a:solidFill>
              <a:srgbClr val="140F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Sarovar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371600" cy="256032"/>
          </a:xfrm>
          <a:prstGeom prst="rect">
            <a:avLst/>
          </a:prstGeom>
          <a:solidFill>
            <a:srgbClr val="D85A30">
              <a:alpha val="30000"/>
            </a:srgbClr>
          </a:solidFill>
          <a:ln w="12700">
            <a:solidFill>
              <a:srgbClr val="D85A30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122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3865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6609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9352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2095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4838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58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40325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43068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83080" y="1600200"/>
            <a:ext cx="6995160" cy="3291840"/>
          </a:xfrm>
          <a:prstGeom prst="rect">
            <a:avLst/>
          </a:prstGeom>
          <a:solidFill>
            <a:srgbClr val="0F0C0A"/>
          </a:solidFill>
          <a:ln w="12700">
            <a:solidFill>
              <a:srgbClr val="0F0C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4520" y="1719072"/>
            <a:ext cx="1600200" cy="749808"/>
          </a:xfrm>
          <a:prstGeom prst="rect">
            <a:avLst/>
          </a:prstGeom>
          <a:solidFill>
            <a:srgbClr val="1A151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4520" y="1719072"/>
            <a:ext cx="45720" cy="7498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84248" y="1755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₹8,640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84248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Revenue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93592" y="1719072"/>
            <a:ext cx="1600200" cy="749808"/>
          </a:xfrm>
          <a:prstGeom prst="rect">
            <a:avLst/>
          </a:prstGeom>
          <a:solidFill>
            <a:srgbClr val="1A151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93592" y="1719072"/>
            <a:ext cx="45720" cy="7498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1755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03320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Today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12664" y="1719072"/>
            <a:ext cx="1600200" cy="749808"/>
          </a:xfrm>
          <a:prstGeom prst="rect">
            <a:avLst/>
          </a:prstGeom>
          <a:solidFill>
            <a:srgbClr val="1A151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2664" y="1719072"/>
            <a:ext cx="45720" cy="7498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22392" y="1755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22392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Orders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031736" y="1719072"/>
            <a:ext cx="1600200" cy="749808"/>
          </a:xfrm>
          <a:prstGeom prst="rect">
            <a:avLst/>
          </a:prstGeom>
          <a:solidFill>
            <a:srgbClr val="1A151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31736" y="1719072"/>
            <a:ext cx="45720" cy="7498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1755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41464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28800" y="2606040"/>
            <a:ext cx="6903720" cy="2148840"/>
          </a:xfrm>
          <a:prstGeom prst="rect">
            <a:avLst/>
          </a:prstGeom>
          <a:solidFill>
            <a:srgbClr val="1A151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6596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capabilities: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65960" y="2999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Live order management with status updates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49240" y="2999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Full menu CRUD — add, edit, toggle availability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96596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Reservation &amp; event booking management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Customer list with lifetime spend analytics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965960" y="3767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Revenue reports, peak hours, top-selling items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49240" y="3767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Coupon creation and usage tracking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965960" y="415137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Contact messages inbox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EVENT BOOKING &amp; COUPON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Event Hall Booking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3749040" cy="22860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3749040" cy="566928"/>
          </a:xfrm>
          <a:prstGeom prst="rect">
            <a:avLst/>
          </a:prstGeom>
          <a:solidFill>
            <a:srgbClr val="F8F5F2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9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Silver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67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guests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9842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₹75,000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3749040" cy="566928"/>
          </a:xfrm>
          <a:prstGeom prst="rect">
            <a:avLst/>
          </a:prstGeom>
          <a:solidFill>
            <a:srgbClr val="F8F5F2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87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Gold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825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250 guests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6426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₹1,50,000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191256"/>
            <a:ext cx="3749040" cy="566928"/>
          </a:xfrm>
          <a:prstGeom prst="rect">
            <a:avLst/>
          </a:prstGeom>
          <a:solidFill>
            <a:srgbClr val="F8F5F2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Platinum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483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 guests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33009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₹3,00,000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event types: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160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Weddings &amp; Receptions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4160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Birthday Parties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4348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Corporate Events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14600" y="44348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Anniversaries &amp; Engagements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Coupon System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37760" y="1719072"/>
            <a:ext cx="3749040" cy="22860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1874520"/>
            <a:ext cx="3749040" cy="475488"/>
          </a:xfrm>
          <a:prstGeom prst="rect">
            <a:avLst/>
          </a:prstGeom>
          <a:solidFill>
            <a:srgbClr val="F8F5F2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1874520"/>
            <a:ext cx="45720" cy="47548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SAROVAR20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74920" y="21488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₹200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2376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 off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37760" y="2441448"/>
            <a:ext cx="3749040" cy="475488"/>
          </a:xfrm>
          <a:prstGeom prst="rect">
            <a:avLst/>
          </a:prstGeom>
          <a:solidFill>
            <a:srgbClr val="F8F5F2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2441448"/>
            <a:ext cx="45720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WELCOME10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74920" y="27157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₹100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23760" y="2532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₹10 flat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937760" y="3008376"/>
            <a:ext cx="3749040" cy="475488"/>
          </a:xfrm>
          <a:prstGeom prst="rect">
            <a:avLst/>
          </a:prstGeom>
          <a:solidFill>
            <a:srgbClr val="F8F5F2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3008376"/>
            <a:ext cx="45720" cy="47548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054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FEAST50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74920" y="32826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₹500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23760" y="3099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 flat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937760" y="3575304"/>
            <a:ext cx="3749040" cy="475488"/>
          </a:xfrm>
          <a:prstGeom prst="rect">
            <a:avLst/>
          </a:prstGeom>
          <a:solidFill>
            <a:srgbClr val="F8F5F2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7760" y="3575304"/>
            <a:ext cx="45720" cy="47548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3621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DIWALI25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74920" y="3849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₹300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3760" y="3666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 off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98348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83480" y="4498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% or flat discount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03720" y="4498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Usage limits &amp; expiry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8348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 order validation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0372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creates anytime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Last. Built to Scale.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011680" cy="35204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2011680" cy="502920"/>
          </a:xfrm>
          <a:prstGeom prst="rect">
            <a:avLst/>
          </a:prstGeom>
          <a:solidFill>
            <a:srgbClr val="378ADD">
              <a:alpha val="80000"/>
            </a:srgbClr>
          </a:solidFill>
          <a:ln w="12700">
            <a:solidFill>
              <a:srgbClr val="378ADD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4813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HTML5 + CSS3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5877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Vanilla JavaScript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Font Awesome Icons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935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Google Fonts (Poppins)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0965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Responsive Design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1417320"/>
            <a:ext cx="2011680" cy="35204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1417320"/>
            <a:ext cx="2011680" cy="502920"/>
          </a:xfrm>
          <a:prstGeom prst="rect">
            <a:avLst/>
          </a:prstGeom>
          <a:solidFill>
            <a:srgbClr val="D85A30">
              <a:alpha val="80000"/>
            </a:srgbClr>
          </a:solidFill>
          <a:ln w="12700">
            <a:solidFill>
              <a:srgbClr val="D85A30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44952" y="14813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0848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PHP 8.x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51760" y="25877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MySQL Database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51760" y="30906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Session Management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51760" y="35935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Prepared Statements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51760" y="40965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REST-style API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2011680" cy="35204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417320"/>
            <a:ext cx="2011680" cy="50292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93792" y="14813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20848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Bcrypt Password Hashing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25877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Brute-force Protection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0906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Session Regeneration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35935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.htaccess Rules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40965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Input Sanitization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12280" y="1417320"/>
            <a:ext cx="2011680" cy="35204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1417320"/>
            <a:ext cx="2011680" cy="502920"/>
          </a:xfrm>
          <a:prstGeom prst="rect">
            <a:avLst/>
          </a:prstGeom>
          <a:solidFill>
            <a:srgbClr val="EF9F27">
              <a:alpha val="80000"/>
            </a:srgbClr>
          </a:solidFill>
          <a:ln w="12700">
            <a:solidFill>
              <a:srgbClr val="EF9F27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22008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42632" y="14813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20848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Apache (XAMPP/cPanel)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49440" y="25877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PHP 8.x compatible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49440" y="30906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MySQL / MariaDB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49440" y="35935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Works on shared hosting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49440" y="40965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HTTPS ready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D85A30">
              <a:alpha val="15000"/>
            </a:srgbClr>
          </a:solidFill>
          <a:ln w="12700">
            <a:solidFill>
              <a:srgbClr val="D85A30">
                <a:alpha val="1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third-party SaaS fees  ·  ✓  You own the code  ·  ✓  Runs on any standard PHP hosting  ·  ✓  Easy to maintain and extend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INVESTMENT &amp;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0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201168" cy="20116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19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source code (all files)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01168" cy="20116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12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SQL setup files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633472"/>
            <a:ext cx="201168" cy="20116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with full access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026664"/>
            <a:ext cx="201168" cy="20116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9992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ready-to-use coupon codes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419856"/>
            <a:ext cx="201168" cy="20116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3924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event venue packages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813048"/>
            <a:ext cx="201168" cy="20116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7856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guide &amp; documentation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206240"/>
            <a:ext cx="201168" cy="20116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178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 FREE maintenance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599432"/>
            <a:ext cx="201168" cy="20116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572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years: ₹30,000 renewal (Yearly) | Monthly according to the requirement which is variable.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114800" cy="379476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97280"/>
            <a:ext cx="4114800" cy="5486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155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Package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Investment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0848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₹40,000</a:t>
            </a:r>
            <a:endParaRPr lang="en-US" sz="3800" dirty="0"/>
          </a:p>
        </p:txBody>
      </p:sp>
      <p:sp>
        <p:nvSpPr>
          <p:cNvPr id="26" name="Shape 24"/>
          <p:cNvSpPr/>
          <p:nvPr/>
        </p:nvSpPr>
        <p:spPr>
          <a:xfrm>
            <a:off x="4892040" y="2816352"/>
            <a:ext cx="3794760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92608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source code ownership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27355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admin accounts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62102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menu items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96849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coupon codes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4370832"/>
            <a:ext cx="3749040" cy="43891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43708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 →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COMPLETE PRICING BREAKDOWN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Need to Know Before You Invest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4206240" cy="148132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98448"/>
            <a:ext cx="4206240" cy="438912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16736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ONE-TIME WEBSITE COST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922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₹35,000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06324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A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payment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A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 of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907792"/>
            <a:ext cx="4206240" cy="12618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907792"/>
            <a:ext cx="45720" cy="126187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HOSTINGER HOSTING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18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Shared Hosting (India server)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Monthly (billed monthly)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3493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₹449/mo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785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Best value (48-month plan)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3785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₹149/mo  ✦ Recommended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07822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Free domain for 1st year  ·  Free SSL  ·  99.9% uptime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4343400"/>
            <a:ext cx="4206240" cy="6400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4343400"/>
            <a:ext cx="45720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DOMAIN (.com)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626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Free 1st year with hosting plan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462686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~₹900/yr after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1298448"/>
            <a:ext cx="4069080" cy="195681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1298448"/>
            <a:ext cx="45720" cy="195681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335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RAZORPAY PAYMENT GATEWAY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1627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fee  ·  No annual fee  ·  Pay only on success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UPI / Debit Card / NetBanking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+ 18% GST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221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Credit Card / Wallet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52360" y="22219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+ 18% GST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25237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EMI / Premium Cards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52360" y="25237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+ 18% GST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2825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Setup / Annual Fee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52360" y="28254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 (Free)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127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₹500 order via UPI → you pay ₹10 + ₹1.80 GST = ₹11.80 only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6592" y="3419856"/>
            <a:ext cx="4069080" cy="1572768"/>
          </a:xfrm>
          <a:prstGeom prst="rect">
            <a:avLst/>
          </a:prstGeom>
          <a:solidFill>
            <a:srgbClr val="1D9E75">
              <a:alpha val="85000"/>
            </a:srgbClr>
          </a:solidFill>
          <a:ln w="12700">
            <a:solidFill>
              <a:srgbClr val="1D9E75">
                <a:alpha val="8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6592" y="3419856"/>
            <a:ext cx="406908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4381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MAINTENANCE PLAN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28032" y="3913632"/>
            <a:ext cx="1737360" cy="10058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9502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1–3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42062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828032" y="4617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support included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84848" y="3913632"/>
            <a:ext cx="192024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39712" y="39502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Years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39712" y="418795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₹30,000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784848" y="45902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All-inclusive renewal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0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(hosting + support)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D85A30">
              <a:alpha val="10000"/>
            </a:srgbClr>
          </a:solidFill>
          <a:ln w="12700">
            <a:solidFill>
              <a:srgbClr val="D85A3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D85A30">
              <a:alpha val="12000"/>
            </a:srgbClr>
          </a:solidFill>
          <a:ln w="12700">
            <a:solidFill>
              <a:srgbClr val="D85A3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🍽️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5727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SAROVAR RESTAURANT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Complete Digital Restaurant Platform is Ready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2697480"/>
            <a:ext cx="2743200" cy="22860"/>
          </a:xfrm>
          <a:prstGeom prst="rect">
            <a:avLst/>
          </a:prstGeom>
          <a:solidFill>
            <a:srgbClr val="8A6A5A">
              <a:alpha val="60000"/>
            </a:srgbClr>
          </a:solidFill>
          <a:ln w="12700">
            <a:solidFill>
              <a:srgbClr val="8A6A5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2880360"/>
            <a:ext cx="1828800" cy="384048"/>
          </a:xfrm>
          <a:prstGeom prst="rect">
            <a:avLst/>
          </a:prstGeom>
          <a:solidFill>
            <a:srgbClr val="D85A30">
              <a:alpha val="25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880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2880360"/>
            <a:ext cx="1828800" cy="384048"/>
          </a:xfrm>
          <a:prstGeom prst="rect">
            <a:avLst/>
          </a:prstGeom>
          <a:solidFill>
            <a:srgbClr val="D85A30">
              <a:alpha val="25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880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Reservations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2880360"/>
            <a:ext cx="1828800" cy="384048"/>
          </a:xfrm>
          <a:prstGeom prst="rect">
            <a:avLst/>
          </a:prstGeom>
          <a:solidFill>
            <a:srgbClr val="D85A30">
              <a:alpha val="25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880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Booking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3410712"/>
            <a:ext cx="1828800" cy="384048"/>
          </a:xfrm>
          <a:prstGeom prst="rect">
            <a:avLst/>
          </a:prstGeom>
          <a:solidFill>
            <a:srgbClr val="D85A30">
              <a:alpha val="25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3410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3410712"/>
            <a:ext cx="1828800" cy="384048"/>
          </a:xfrm>
          <a:prstGeom prst="rect">
            <a:avLst/>
          </a:prstGeom>
          <a:solidFill>
            <a:srgbClr val="D85A30">
              <a:alpha val="25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410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3410712"/>
            <a:ext cx="1828800" cy="384048"/>
          </a:xfrm>
          <a:prstGeom prst="rect">
            <a:avLst/>
          </a:prstGeom>
          <a:solidFill>
            <a:srgbClr val="D85A30">
              <a:alpha val="25000"/>
            </a:srgbClr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410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04164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take Sarovar Restaurant online — together.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1074</Words>
  <Application>Microsoft Office PowerPoint</Application>
  <PresentationFormat>On-screen Show (16:9)</PresentationFormat>
  <Paragraphs>286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Sarovar Restaurant – Website Proposal</dc:title>
  <dc:subject>PptxGenJS Presentation</dc:subject>
  <dc:creator>Sarovar Restaurant</dc:creator>
  <cp:lastModifiedBy>Tridev Acharya</cp:lastModifiedBy>
  <cp:revision>3</cp:revision>
  <dcterms:created xsi:type="dcterms:W3CDTF">2026-04-23T17:43:56Z</dcterms:created>
  <dcterms:modified xsi:type="dcterms:W3CDTF">2026-04-25T14:13:00Z</dcterms:modified>
</cp:coreProperties>
</file>