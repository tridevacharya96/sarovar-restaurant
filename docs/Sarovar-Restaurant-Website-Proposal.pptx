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269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0F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D85A30">
              <a:alpha val="15000"/>
            </a:srgbClr>
          </a:solidFill>
          <a:ln w="12700">
            <a:solidFill>
              <a:srgbClr val="D85A30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548640"/>
            <a:ext cx="2926080" cy="2926080"/>
          </a:xfrm>
          <a:prstGeom prst="ellipse">
            <a:avLst/>
          </a:prstGeom>
          <a:solidFill>
            <a:srgbClr val="D85A30">
              <a:alpha val="30000"/>
            </a:srgbClr>
          </a:solidFill>
          <a:ln w="12700">
            <a:solidFill>
              <a:srgbClr val="D85A30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371600" y="3474720"/>
            <a:ext cx="3657600" cy="3657600"/>
          </a:xfrm>
          <a:prstGeom prst="ellipse">
            <a:avLst/>
          </a:prstGeom>
          <a:solidFill>
            <a:srgbClr val="D85A30">
              <a:alpha val="12000"/>
            </a:srgbClr>
          </a:solidFill>
          <a:ln w="12700">
            <a:solidFill>
              <a:srgbClr val="D85A30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188720"/>
            <a:ext cx="54864" cy="2286000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0292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000000"/>
                </a:solidFill>
              </a:rPr>
              <a:t>🍽️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658368" y="123444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kern="0" spc="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SAROVAR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658368" y="1874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400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· ROURKELA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2331720"/>
            <a:ext cx="2926080" cy="22860"/>
          </a:xfrm>
          <a:prstGeom prst="rect">
            <a:avLst/>
          </a:prstGeom>
          <a:solidFill>
            <a:srgbClr val="8A6A5A">
              <a:alpha val="60000"/>
            </a:srgbClr>
          </a:solidFill>
          <a:ln w="12700">
            <a:solidFill>
              <a:srgbClr val="8A6A5A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46888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Restaurant Website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3127248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digital presence — online ordering, table reservations,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hall booking, admin dashboard &amp; coupon system.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58368" y="4160520"/>
            <a:ext cx="1828800" cy="640080"/>
          </a:xfrm>
          <a:prstGeom prst="rect">
            <a:avLst/>
          </a:prstGeom>
          <a:solidFill>
            <a:srgbClr val="D85A30">
              <a:alpha val="20000"/>
            </a:srgbClr>
          </a:solidFill>
          <a:ln w="12700">
            <a:solidFill>
              <a:srgbClr val="D85A30">
                <a:alpha val="5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1605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🛒  Online Orders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670048" y="4160520"/>
            <a:ext cx="1828800" cy="640080"/>
          </a:xfrm>
          <a:prstGeom prst="rect">
            <a:avLst/>
          </a:prstGeom>
          <a:solidFill>
            <a:srgbClr val="D85A30">
              <a:alpha val="20000"/>
            </a:srgbClr>
          </a:solidFill>
          <a:ln w="12700">
            <a:solidFill>
              <a:srgbClr val="D85A30">
                <a:alpha val="5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70048" y="41605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Reservations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81728" y="4160520"/>
            <a:ext cx="1828800" cy="640080"/>
          </a:xfrm>
          <a:prstGeom prst="rect">
            <a:avLst/>
          </a:prstGeom>
          <a:solidFill>
            <a:srgbClr val="D85A30">
              <a:alpha val="20000"/>
            </a:srgbClr>
          </a:solidFill>
          <a:ln w="12700">
            <a:solidFill>
              <a:srgbClr val="D85A30">
                <a:alpha val="5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81728" y="41605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🎉  Event Booking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93408" y="4160520"/>
            <a:ext cx="1828800" cy="640080"/>
          </a:xfrm>
          <a:prstGeom prst="rect">
            <a:avLst/>
          </a:prstGeom>
          <a:solidFill>
            <a:srgbClr val="D85A30">
              <a:alpha val="20000"/>
            </a:srgbClr>
          </a:solidFill>
          <a:ln w="12700">
            <a:solidFill>
              <a:srgbClr val="D85A30">
                <a:alpha val="5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93408" y="41605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Admin Panel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1A0F0A"/>
          </a:solidFill>
          <a:ln w="12700">
            <a:solidFill>
              <a:srgbClr val="1A0F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6576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🍽️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SAROVAR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65760" y="14447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920240"/>
            <a:ext cx="2377440" cy="22860"/>
          </a:xfrm>
          <a:prstGeom prst="rect">
            <a:avLst/>
          </a:prstGeom>
          <a:solidFill>
            <a:srgbClr val="D85A30">
              <a:alpha val="70000"/>
            </a:srgbClr>
          </a:solidFill>
          <a:ln w="12700">
            <a:solidFill>
              <a:srgbClr val="D85A30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0574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65760" y="320040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walkthrough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your new digital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platform.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74720" y="411480"/>
            <a:ext cx="24688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11880" y="50292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85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611880" y="85039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11880" y="106984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built &amp; why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411480"/>
            <a:ext cx="24688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63640" y="50292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85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263640" y="85039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63640" y="106984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powerful modules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4720" y="1490472"/>
            <a:ext cx="24688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611880" y="15819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85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611880" y="19293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Experience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611880" y="21488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visitors see &amp; do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26480" y="1490472"/>
            <a:ext cx="24688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263640" y="15819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85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263640" y="19293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63640" y="21488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back-office control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74720" y="2569464"/>
            <a:ext cx="24688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611880" y="266090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85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611880" y="300837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&amp; Coupon System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611880" y="32278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 &amp; discounts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26480" y="2569464"/>
            <a:ext cx="24688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263640" y="266090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85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263640" y="300837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263640" y="32278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last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74720" y="3648456"/>
            <a:ext cx="24688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3611880" y="373989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85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3611880" y="408736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611880" y="430682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&amp; next steps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0F0A"/>
          </a:solidFill>
          <a:ln w="12700">
            <a:solidFill>
              <a:srgbClr val="1A0F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PROJECT OVERVIEW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sarovar-restaurant.com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0F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Complete Restaurant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A0F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Digital Platform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Sarovar Restaurant now has a fully-featured website built from scratch — covering every aspect of restaurant management and customer engagement.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566160"/>
            <a:ext cx="1828800" cy="685800"/>
          </a:xfrm>
          <a:prstGeom prst="rect">
            <a:avLst/>
          </a:prstGeom>
          <a:solidFill>
            <a:srgbClr val="FAECE7"/>
          </a:solidFill>
          <a:ln w="12700">
            <a:solidFill>
              <a:srgbClr val="F0C8B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593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85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39502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modules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468880" y="3566160"/>
            <a:ext cx="1828800" cy="685800"/>
          </a:xfrm>
          <a:prstGeom prst="rect">
            <a:avLst/>
          </a:prstGeom>
          <a:solidFill>
            <a:srgbClr val="FAECE7"/>
          </a:solidFill>
          <a:ln w="12700">
            <a:solidFill>
              <a:srgbClr val="F0C8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0" y="3593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85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560320" y="39502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built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4343400"/>
            <a:ext cx="1828800" cy="685800"/>
          </a:xfrm>
          <a:prstGeom prst="rect">
            <a:avLst/>
          </a:prstGeom>
          <a:solidFill>
            <a:srgbClr val="FAECE7"/>
          </a:solidFill>
          <a:ln w="12700">
            <a:solidFill>
              <a:srgbClr val="F0C8B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3708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85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PHP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48640" y="47274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468880" y="4343400"/>
            <a:ext cx="1828800" cy="685800"/>
          </a:xfrm>
          <a:prstGeom prst="rect">
            <a:avLst/>
          </a:prstGeom>
          <a:solidFill>
            <a:srgbClr val="FAECE7"/>
          </a:solidFill>
          <a:ln w="12700">
            <a:solidFill>
              <a:srgbClr val="F0C8B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0" y="43708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85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560320" y="47274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deploy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1097280"/>
            <a:ext cx="4114800" cy="3840480"/>
          </a:xfrm>
          <a:prstGeom prst="rect">
            <a:avLst/>
          </a:prstGeom>
          <a:solidFill>
            <a:srgbClr val="F8F5F2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🛒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440680" y="1298448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Food Ordering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40680" y="153619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cart, checkout &amp; order tracking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93776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440680" y="1847088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Reservations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40680" y="2084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table with instant confirmation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93776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🎉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440680" y="2395728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Hall Booking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40680" y="26334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Weddings, birthdays, corporate events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937760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440680" y="2944368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40680" y="318211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Orders, menu, customers, reports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937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🏷️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440680" y="3493008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System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40680" y="373075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&amp; manage discount codes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93776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440680" y="4041648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Auth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440680" y="427939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&amp; admin login separately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0F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KEY FEATURES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Everything Your Restaurant Needs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1508760"/>
            <a:ext cx="2011680" cy="150876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508760"/>
            <a:ext cx="2011680" cy="54864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9768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🛒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29768" y="207568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Ordering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2359152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Cart, checkout, GST calc, COD &amp; UPI payment, order history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68880" y="1508760"/>
            <a:ext cx="2011680" cy="150876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68880" y="1508760"/>
            <a:ext cx="2011680" cy="54864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78608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578608" y="207568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Booking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578608" y="2359152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Date/time/guests selection, instant status, cancellation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17720" y="1508760"/>
            <a:ext cx="2011680" cy="150876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7720" y="1508760"/>
            <a:ext cx="2011680" cy="54864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27448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🎉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727448" y="207568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Booking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27448" y="2359152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Silver/Gold/Platinum packages, date check, booking ref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766560" y="1508760"/>
            <a:ext cx="2011680" cy="150876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0" y="1508760"/>
            <a:ext cx="2011680" cy="54864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76288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76288" y="207568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Panel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76288" y="2359152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back-office: orders, menu, customers, reservations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0040" y="3200400"/>
            <a:ext cx="2011680" cy="150876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" y="3200400"/>
            <a:ext cx="2011680" cy="54864"/>
          </a:xfrm>
          <a:prstGeom prst="rect">
            <a:avLst/>
          </a:prstGeom>
          <a:solidFill>
            <a:srgbClr val="7F77DD"/>
          </a:solidFill>
          <a:ln w="12700">
            <a:solidFill>
              <a:srgbClr val="7F77D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9768" y="3310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29768" y="37673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System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29768" y="4050792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or flat discount, expiry, usage limit, live validation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468880" y="3200400"/>
            <a:ext cx="2011680" cy="150876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68880" y="3200400"/>
            <a:ext cx="2011680" cy="54864"/>
          </a:xfrm>
          <a:prstGeom prst="rect">
            <a:avLst/>
          </a:prstGeom>
          <a:solidFill>
            <a:srgbClr val="D4537E"/>
          </a:solidFill>
          <a:ln w="12700">
            <a:solidFill>
              <a:srgbClr val="D4537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78608" y="3310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2578608" y="37673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578608" y="4050792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charts, peak hours, top items, monthly trends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617720" y="3200400"/>
            <a:ext cx="2011680" cy="150876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17720" y="3200400"/>
            <a:ext cx="2011680" cy="54864"/>
          </a:xfrm>
          <a:prstGeom prst="rect">
            <a:avLst/>
          </a:prstGeom>
          <a:solidFill>
            <a:srgbClr val="5DCAA5"/>
          </a:solidFill>
          <a:ln w="12700">
            <a:solidFill>
              <a:srgbClr val="5DCAA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27448" y="3310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🔐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4727448" y="37673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Login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727448" y="4050792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auth, brute-force lock, admin access control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66560" y="3200400"/>
            <a:ext cx="2011680" cy="150876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766560" y="3200400"/>
            <a:ext cx="2011680" cy="54864"/>
          </a:xfrm>
          <a:prstGeom prst="rect">
            <a:avLst/>
          </a:prstGeom>
          <a:solidFill>
            <a:srgbClr val="F0997B"/>
          </a:solidFill>
          <a:ln w="12700">
            <a:solidFill>
              <a:srgbClr val="F0997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76288" y="3310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876288" y="37673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Responsive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6876288" y="4050792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perfectly on mobile, tablet, and desktop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0F0A"/>
          </a:solidFill>
          <a:ln w="12700">
            <a:solidFill>
              <a:srgbClr val="1A0F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CUSTOMER EXPERIENCE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0F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Seamless Journey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1A0F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Browse to Order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84048" y="2331720"/>
            <a:ext cx="27432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12064" y="2459736"/>
            <a:ext cx="402336" cy="402336"/>
          </a:xfrm>
          <a:prstGeom prst="ellipse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78408" y="242316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 Land on Homepage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" y="2834640"/>
            <a:ext cx="2523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 hero slider, menu preview, gallery, testimonials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91840" y="2331720"/>
            <a:ext cx="27432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19856" y="2459736"/>
            <a:ext cx="402336" cy="402336"/>
          </a:xfrm>
          <a:prstGeom prst="ellipse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19856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886200" y="242316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🍛  Browse Menu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19856" y="2834640"/>
            <a:ext cx="2523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category, veg/non-veg, add to cart instantly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99632" y="2331720"/>
            <a:ext cx="27432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27648" y="2459736"/>
            <a:ext cx="402336" cy="402336"/>
          </a:xfrm>
          <a:prstGeom prst="ellipse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27648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93992" y="242316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🏷️  Apply Coupon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27648" y="2834640"/>
            <a:ext cx="2523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discount code, see savings live before paying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4048" y="3657600"/>
            <a:ext cx="27432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12064" y="3785616"/>
            <a:ext cx="402336" cy="402336"/>
          </a:xfrm>
          <a:prstGeom prst="ellipse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2064" y="37856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78408" y="374904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Place Order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12064" y="4160520"/>
            <a:ext cx="2523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with name, address, COD or UPI payment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91840" y="3657600"/>
            <a:ext cx="27432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419856" y="3785616"/>
            <a:ext cx="402336" cy="402336"/>
          </a:xfrm>
          <a:prstGeom prst="ellipse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19856" y="37856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886200" y="374904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Track Orders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419856" y="4160520"/>
            <a:ext cx="2523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order history and status from My Orders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99632" y="3657600"/>
            <a:ext cx="27432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327648" y="3785616"/>
            <a:ext cx="402336" cy="402336"/>
          </a:xfrm>
          <a:prstGeom prst="ellipse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27648" y="37856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793992" y="374904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Book Table / Event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27648" y="4160520"/>
            <a:ext cx="2523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a table or book the hall for a special occasion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0F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ADMIN DASHBOARD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Complete Back-Office Control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dashboard to manage everything — from a secure login page to live analytics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600200"/>
            <a:ext cx="1371600" cy="3291840"/>
          </a:xfrm>
          <a:prstGeom prst="rect">
            <a:avLst/>
          </a:prstGeom>
          <a:solidFill>
            <a:srgbClr val="140F0D"/>
          </a:solidFill>
          <a:ln w="12700">
            <a:solidFill>
              <a:srgbClr val="140F0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6916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⬛ Sarovar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2103120"/>
            <a:ext cx="1371600" cy="256032"/>
          </a:xfrm>
          <a:prstGeom prst="rect">
            <a:avLst/>
          </a:prstGeom>
          <a:solidFill>
            <a:srgbClr val="D85A30">
              <a:alpha val="30000"/>
            </a:srgbClr>
          </a:solidFill>
          <a:ln w="12700">
            <a:solidFill>
              <a:srgbClr val="D85A30">
                <a:alpha val="3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11226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238658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" y="266090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293522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57200" y="320954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57200" y="348386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57200" y="375818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57200" y="403250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7200" y="430682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783080" y="1600200"/>
            <a:ext cx="6995160" cy="3291840"/>
          </a:xfrm>
          <a:prstGeom prst="rect">
            <a:avLst/>
          </a:prstGeom>
          <a:solidFill>
            <a:srgbClr val="0F0C0A"/>
          </a:solidFill>
          <a:ln w="12700">
            <a:solidFill>
              <a:srgbClr val="0F0C0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74520" y="1719072"/>
            <a:ext cx="1600200" cy="749808"/>
          </a:xfrm>
          <a:prstGeom prst="rect">
            <a:avLst/>
          </a:prstGeom>
          <a:solidFill>
            <a:srgbClr val="1A1512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74520" y="1719072"/>
            <a:ext cx="45720" cy="749808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84248" y="175564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₹8,640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984248" y="210312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Revenue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593592" y="1719072"/>
            <a:ext cx="1600200" cy="749808"/>
          </a:xfrm>
          <a:prstGeom prst="rect">
            <a:avLst/>
          </a:prstGeom>
          <a:solidFill>
            <a:srgbClr val="1A1512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93592" y="1719072"/>
            <a:ext cx="45720" cy="749808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03320" y="175564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3703320" y="210312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Today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312664" y="1719072"/>
            <a:ext cx="1600200" cy="749808"/>
          </a:xfrm>
          <a:prstGeom prst="rect">
            <a:avLst/>
          </a:prstGeom>
          <a:solidFill>
            <a:srgbClr val="1A1512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12664" y="1719072"/>
            <a:ext cx="45720" cy="749808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22392" y="175564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422392" y="210312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Orders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031736" y="1719072"/>
            <a:ext cx="1600200" cy="749808"/>
          </a:xfrm>
          <a:prstGeom prst="rect">
            <a:avLst/>
          </a:prstGeom>
          <a:solidFill>
            <a:srgbClr val="1A1512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31736" y="1719072"/>
            <a:ext cx="45720" cy="7498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41464" y="175564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148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7141464" y="210312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Customers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1828800" y="2606040"/>
            <a:ext cx="6903720" cy="2148840"/>
          </a:xfrm>
          <a:prstGeom prst="rect">
            <a:avLst/>
          </a:prstGeom>
          <a:solidFill>
            <a:srgbClr val="1A1512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65960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capabilities: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965960" y="29992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Live order management with status updates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349240" y="29992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Full menu CRUD — add, edit, toggle availability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965960" y="3383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Reservation &amp; event booking management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349240" y="3383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Customer list with lifetime spend analytics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965960" y="37673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Revenue reports, peak hours, top-selling items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349240" y="37673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Coupon creation and usage tracking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965960" y="4151376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Contact messages inbox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0F0A"/>
          </a:solidFill>
          <a:ln w="12700">
            <a:solidFill>
              <a:srgbClr val="1A0F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EVENT BOOKING &amp; COUPON SYSTEM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411480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2801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0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🎉  Event Hall Booking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719072"/>
            <a:ext cx="3749040" cy="22860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74520"/>
            <a:ext cx="3749040" cy="566928"/>
          </a:xfrm>
          <a:prstGeom prst="rect">
            <a:avLst/>
          </a:prstGeom>
          <a:solidFill>
            <a:srgbClr val="F8F5F2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92938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🥈 Silver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16712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100 guests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834640" y="198424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D85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₹75,000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532888"/>
            <a:ext cx="3749040" cy="566928"/>
          </a:xfrm>
          <a:prstGeom prst="rect">
            <a:avLst/>
          </a:prstGeom>
          <a:solidFill>
            <a:srgbClr val="F8F5F2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58775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🥇 Gold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28254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250 guests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834640" y="2642616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D85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₹1,50,000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191256"/>
            <a:ext cx="3749040" cy="566928"/>
          </a:xfrm>
          <a:prstGeom prst="rect">
            <a:avLst/>
          </a:prstGeom>
          <a:solidFill>
            <a:srgbClr val="F8F5F2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246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💎 Platinum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34838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500 guests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834640" y="3300984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D85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₹3,00,000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94360" y="38587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event types: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416052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Weddings &amp; Receptions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514600" y="416052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Birthday Parties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94360" y="44348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Corporate Events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514600" y="44348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Anniversaries &amp; Engagements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54880" y="1097280"/>
            <a:ext cx="411480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937760" y="12801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0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🏷️  Coupon System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937760" y="1719072"/>
            <a:ext cx="3749040" cy="22860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0" y="1874520"/>
            <a:ext cx="3749040" cy="475488"/>
          </a:xfrm>
          <a:prstGeom prst="rect">
            <a:avLst/>
          </a:prstGeom>
          <a:solidFill>
            <a:srgbClr val="F8F5F2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0" y="1874520"/>
            <a:ext cx="45720" cy="475488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74920" y="19202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1A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SAROVAR20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074920" y="214884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₹200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223760" y="1965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85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20% off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937760" y="2441448"/>
            <a:ext cx="3749040" cy="475488"/>
          </a:xfrm>
          <a:prstGeom prst="rect">
            <a:avLst/>
          </a:prstGeom>
          <a:solidFill>
            <a:srgbClr val="F8F5F2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937760" y="2441448"/>
            <a:ext cx="45720" cy="47548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4920" y="2487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1A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WELCOME10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074920" y="2715768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₹100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223760" y="25328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D9E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₹10 flat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937760" y="3008376"/>
            <a:ext cx="3749040" cy="475488"/>
          </a:xfrm>
          <a:prstGeom prst="rect">
            <a:avLst/>
          </a:prstGeom>
          <a:solidFill>
            <a:srgbClr val="F8F5F2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937760" y="3008376"/>
            <a:ext cx="45720" cy="475488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74920" y="30540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1A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FEAST50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074920" y="3282696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₹500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223760" y="30998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378A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₹50 flat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4937760" y="3575304"/>
            <a:ext cx="3749040" cy="475488"/>
          </a:xfrm>
          <a:prstGeom prst="rect">
            <a:avLst/>
          </a:prstGeom>
          <a:solidFill>
            <a:srgbClr val="F8F5F2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0" y="3575304"/>
            <a:ext cx="45720" cy="475488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74920" y="362102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1A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DIWALI25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074920" y="3849624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₹300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223760" y="366674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25% off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4983480" y="42062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983480" y="44988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% or flat discount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903720" y="44988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Usage limits &amp; expiry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98348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Min order validation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90372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Admin creates anytime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0F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— TECHNOLOGY 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to Last. Built to Scale.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2011680" cy="3520440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417320"/>
            <a:ext cx="2011680" cy="502920"/>
          </a:xfrm>
          <a:prstGeom prst="rect">
            <a:avLst/>
          </a:prstGeom>
          <a:solidFill>
            <a:srgbClr val="378ADD">
              <a:alpha val="80000"/>
            </a:srgbClr>
          </a:solidFill>
          <a:ln w="12700">
            <a:solidFill>
              <a:srgbClr val="378ADD">
                <a:alpha val="8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14447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🎨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148132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208483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HTML5 + CSS3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258775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Vanilla JavaScript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02920" y="309067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Font Awesome Icons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" y="35935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Google Fonts (Poppins)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409651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Responsive Design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514600" y="1417320"/>
            <a:ext cx="2011680" cy="3520440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14600" y="1417320"/>
            <a:ext cx="2011680" cy="502920"/>
          </a:xfrm>
          <a:prstGeom prst="rect">
            <a:avLst/>
          </a:prstGeom>
          <a:solidFill>
            <a:srgbClr val="D85A30">
              <a:alpha val="80000"/>
            </a:srgbClr>
          </a:solidFill>
          <a:ln w="12700">
            <a:solidFill>
              <a:srgbClr val="D85A30">
                <a:alpha val="8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24328" y="14447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⚙️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044952" y="148132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651760" y="208483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PHP 8.x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651760" y="258775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MySQL Database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651760" y="309067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Session Management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651760" y="35935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Prepared Statements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651760" y="409651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REST-style API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663440" y="1417320"/>
            <a:ext cx="2011680" cy="3520440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63440" y="1417320"/>
            <a:ext cx="2011680" cy="502920"/>
          </a:xfrm>
          <a:prstGeom prst="rect">
            <a:avLst/>
          </a:prstGeom>
          <a:solidFill>
            <a:srgbClr val="1D9E75">
              <a:alpha val="80000"/>
            </a:srgbClr>
          </a:solidFill>
          <a:ln w="12700">
            <a:solidFill>
              <a:srgbClr val="1D9E75">
                <a:alpha val="8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73168" y="14447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193792" y="148132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800600" y="208483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Bcrypt Password Hashing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800600" y="258775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Brute-force Protection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800600" y="309067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Session Regeneration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800600" y="35935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.htaccess Rules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800600" y="409651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Input Sanitization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812280" y="1417320"/>
            <a:ext cx="2011680" cy="3520440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812280" y="1417320"/>
            <a:ext cx="2011680" cy="502920"/>
          </a:xfrm>
          <a:prstGeom prst="rect">
            <a:avLst/>
          </a:prstGeom>
          <a:solidFill>
            <a:srgbClr val="EF9F27">
              <a:alpha val="80000"/>
            </a:srgbClr>
          </a:solidFill>
          <a:ln w="12700">
            <a:solidFill>
              <a:srgbClr val="EF9F27">
                <a:alpha val="8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22008" y="14447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🖥️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342632" y="148132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949440" y="208483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Apache (XAMPP/cPanel)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949440" y="258775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PHP 8.x compatible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949440" y="309067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MySQL / MariaDB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949440" y="35935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Works on shared hosting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949440" y="409651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HTTPS ready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65760" y="4681728"/>
            <a:ext cx="8412480" cy="320040"/>
          </a:xfrm>
          <a:prstGeom prst="rect">
            <a:avLst/>
          </a:prstGeom>
          <a:solidFill>
            <a:srgbClr val="D85A30">
              <a:alpha val="15000"/>
            </a:srgbClr>
          </a:solidFill>
          <a:ln w="12700">
            <a:solidFill>
              <a:srgbClr val="D85A30">
                <a:alpha val="15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7200" y="46817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No third-party SaaS fees  ·  ✓  You own the code  ·  ✓  Runs on any standard PHP hosting  ·  ✓  Easy to maintain and extend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0F0A"/>
          </a:solidFill>
          <a:ln w="12700">
            <a:solidFill>
              <a:srgbClr val="1A0F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— INVESTMENT &amp; NEXT STEPS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0F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 Get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847088"/>
            <a:ext cx="201168" cy="201168"/>
          </a:xfrm>
          <a:prstGeom prst="ellipse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81965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source code (all files)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2240280"/>
            <a:ext cx="201168" cy="201168"/>
          </a:xfrm>
          <a:prstGeom prst="ellipse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221284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SQL setup files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2633472"/>
            <a:ext cx="201168" cy="201168"/>
          </a:xfrm>
          <a:prstGeom prst="ellipse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2606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panel with full access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3026664"/>
            <a:ext cx="201168" cy="201168"/>
          </a:xfrm>
          <a:prstGeom prst="ellipse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299923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ready-to-use coupon codes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3419856"/>
            <a:ext cx="201168" cy="201168"/>
          </a:xfrm>
          <a:prstGeom prst="ellipse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339242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event venue packages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3813048"/>
            <a:ext cx="201168" cy="201168"/>
          </a:xfrm>
          <a:prstGeom prst="ellipse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" y="378561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guide &amp; documentation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4206240"/>
            <a:ext cx="201168" cy="201168"/>
          </a:xfrm>
          <a:prstGeom prst="ellipse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417880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years FREE maintenance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599432"/>
            <a:ext cx="201168" cy="201168"/>
          </a:xfrm>
          <a:prstGeom prst="ellipse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45720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3 years: ₹30,000 renewal (Yearly) | Monthly according to the requirement which is variable.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54880" y="1097280"/>
            <a:ext cx="4114800" cy="3794760"/>
          </a:xfrm>
          <a:prstGeom prst="rect">
            <a:avLst/>
          </a:prstGeom>
          <a:solidFill>
            <a:srgbClr val="1A0F0A"/>
          </a:solidFill>
          <a:ln w="12700">
            <a:solidFill>
              <a:srgbClr val="1A0F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54880" y="1097280"/>
            <a:ext cx="4114800" cy="548640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111556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Package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892040" y="17830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Investment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92040" y="2084832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₹35,000</a:t>
            </a:r>
            <a:endParaRPr lang="en-US" sz="3800" dirty="0"/>
          </a:p>
        </p:txBody>
      </p:sp>
      <p:sp>
        <p:nvSpPr>
          <p:cNvPr id="26" name="Shape 24"/>
          <p:cNvSpPr/>
          <p:nvPr/>
        </p:nvSpPr>
        <p:spPr>
          <a:xfrm>
            <a:off x="4892040" y="2816352"/>
            <a:ext cx="3794760" cy="2286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83480" y="2926080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Full source code ownership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83480" y="3273552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Unlimited admin accounts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83480" y="3621024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Unlimited menu items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83480" y="3968496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Unlimited coupon codes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983480" y="4370832"/>
            <a:ext cx="3749040" cy="43891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83480" y="437083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in Touch →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0F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— COMPLETE PRICING BREAKDOWN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Everything You Need to Know Before You Invest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47472" y="1298448"/>
            <a:ext cx="4206240" cy="1481328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1298448"/>
            <a:ext cx="4206240" cy="438912"/>
          </a:xfrm>
          <a:prstGeom prst="rect">
            <a:avLst/>
          </a:prstGeom>
          <a:solidFill>
            <a:srgbClr val="993C1D"/>
          </a:solidFill>
          <a:ln w="12700">
            <a:solidFill>
              <a:srgbClr val="993C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316736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 ONE-TIME WEBSITE COST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792224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₹35,000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063240" y="18288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AE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payment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AE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ownership of code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" y="2907792"/>
            <a:ext cx="4206240" cy="1261872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" y="2907792"/>
            <a:ext cx="45720" cy="1261872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9443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HOSTINGER HOSTING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321868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Shared Hosting (India server)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34930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Monthly (billed monthly)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0" y="3493008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₹449/mo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378561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Best value (48-month plan)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00400" y="378561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₹149/mo  ✦ Recommended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" y="4078224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Free domain for 1st year  ·  Free SSL  ·  99.9% uptime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472" y="4343400"/>
            <a:ext cx="4206240" cy="640080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472" y="4343400"/>
            <a:ext cx="45720" cy="64008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43708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DOMAIN (.com)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62686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Free 1st year with hosting plan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74720" y="4626864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~₹900/yr after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36592" y="1298448"/>
            <a:ext cx="4069080" cy="1956816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36592" y="1298448"/>
            <a:ext cx="45720" cy="1956816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92040" y="133502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💳  RAZORPAY PAYMENT GATEWAY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92040" y="162763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setup fee  ·  No annual fee  ·  Pay only on success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937760" y="19202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UPI / Debit Card / NetBanking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452360" y="192024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 + 18% GST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937760" y="22219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Credit Card / Wallet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452360" y="222199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 + 18% GST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937760" y="252374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EMI / Premium Cards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52360" y="2523744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 + 18% GST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937760" y="28254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Setup / Annual Fee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452360" y="282549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  (Free)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892040" y="312724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₹500 order via UPI → you pay ₹10 + ₹1.80 GST = ₹11.80 only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736592" y="3419856"/>
            <a:ext cx="4069080" cy="1572768"/>
          </a:xfrm>
          <a:prstGeom prst="rect">
            <a:avLst/>
          </a:prstGeom>
          <a:solidFill>
            <a:srgbClr val="1D9E75">
              <a:alpha val="85000"/>
            </a:srgbClr>
          </a:solidFill>
          <a:ln w="12700">
            <a:solidFill>
              <a:srgbClr val="1D9E75">
                <a:alpha val="8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6592" y="3419856"/>
            <a:ext cx="4069080" cy="38404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92040" y="343814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🛠️  MAINTENANCE PLAN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828032" y="3913632"/>
            <a:ext cx="1737360" cy="1005840"/>
          </a:xfrm>
          <a:prstGeom prst="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92040" y="395020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1–3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892040" y="4206240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4828032" y="46177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0F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support included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784848" y="3913632"/>
            <a:ext cx="1920240" cy="1005840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839712" y="395020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3 Years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839712" y="4187952"/>
            <a:ext cx="1783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₹30,000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6784848" y="459028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0F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All-inclusive renewal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C0F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(hosting + support)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0F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4572000" cy="4572000"/>
          </a:xfrm>
          <a:prstGeom prst="ellipse">
            <a:avLst/>
          </a:prstGeom>
          <a:solidFill>
            <a:srgbClr val="D85A30">
              <a:alpha val="10000"/>
            </a:srgbClr>
          </a:solidFill>
          <a:ln w="12700">
            <a:solidFill>
              <a:srgbClr val="D85A30">
                <a:alpha val="1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2286000"/>
            <a:ext cx="3657600" cy="3657600"/>
          </a:xfrm>
          <a:prstGeom prst="ellipse">
            <a:avLst/>
          </a:prstGeom>
          <a:solidFill>
            <a:srgbClr val="D85A30">
              <a:alpha val="12000"/>
            </a:srgbClr>
          </a:solidFill>
          <a:ln w="12700">
            <a:solidFill>
              <a:srgbClr val="D85A30">
                <a:alpha val="12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0" y="4572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000000"/>
                </a:solidFill>
              </a:rPr>
              <a:t>🍽️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914400" y="1572768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kern="0" spc="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SAROVAR RESTAURANT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221284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Complete Digital Restaurant Platform is Ready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00400" y="2697480"/>
            <a:ext cx="2743200" cy="22860"/>
          </a:xfrm>
          <a:prstGeom prst="rect">
            <a:avLst/>
          </a:prstGeom>
          <a:solidFill>
            <a:srgbClr val="8A6A5A">
              <a:alpha val="60000"/>
            </a:srgbClr>
          </a:solidFill>
          <a:ln w="12700">
            <a:solidFill>
              <a:srgbClr val="8A6A5A">
                <a:alpha val="6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45920" y="2880360"/>
            <a:ext cx="1828800" cy="384048"/>
          </a:xfrm>
          <a:prstGeom prst="rect">
            <a:avLst/>
          </a:prstGeom>
          <a:solidFill>
            <a:srgbClr val="D85A30">
              <a:alpha val="25000"/>
            </a:srgbClr>
          </a:solidFill>
          <a:ln w="12700">
            <a:solidFill>
              <a:srgbClr val="D85A30">
                <a:alpha val="5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645920" y="28803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Ordering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0" y="2880360"/>
            <a:ext cx="1828800" cy="384048"/>
          </a:xfrm>
          <a:prstGeom prst="rect">
            <a:avLst/>
          </a:prstGeom>
          <a:solidFill>
            <a:srgbClr val="D85A30">
              <a:alpha val="25000"/>
            </a:srgbClr>
          </a:solidFill>
          <a:ln w="12700">
            <a:solidFill>
              <a:srgbClr val="D85A30">
                <a:alpha val="5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28803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Reservations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69280" y="2880360"/>
            <a:ext cx="1828800" cy="384048"/>
          </a:xfrm>
          <a:prstGeom prst="rect">
            <a:avLst/>
          </a:prstGeom>
          <a:solidFill>
            <a:srgbClr val="D85A30">
              <a:alpha val="25000"/>
            </a:srgbClr>
          </a:solidFill>
          <a:ln w="12700">
            <a:solidFill>
              <a:srgbClr val="D85A30">
                <a:alpha val="5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0" y="28803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Booking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645920" y="3410712"/>
            <a:ext cx="1828800" cy="384048"/>
          </a:xfrm>
          <a:prstGeom prst="rect">
            <a:avLst/>
          </a:prstGeom>
          <a:solidFill>
            <a:srgbClr val="D85A30">
              <a:alpha val="25000"/>
            </a:srgbClr>
          </a:solidFill>
          <a:ln w="12700">
            <a:solidFill>
              <a:srgbClr val="D85A30">
                <a:alpha val="5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45920" y="341071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Panel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0" y="3410712"/>
            <a:ext cx="1828800" cy="384048"/>
          </a:xfrm>
          <a:prstGeom prst="rect">
            <a:avLst/>
          </a:prstGeom>
          <a:solidFill>
            <a:srgbClr val="D85A30">
              <a:alpha val="25000"/>
            </a:srgbClr>
          </a:solidFill>
          <a:ln w="12700">
            <a:solidFill>
              <a:srgbClr val="D85A30">
                <a:alpha val="5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0" y="341071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669280" y="3410712"/>
            <a:ext cx="1828800" cy="384048"/>
          </a:xfrm>
          <a:prstGeom prst="rect">
            <a:avLst/>
          </a:prstGeom>
          <a:solidFill>
            <a:srgbClr val="D85A30">
              <a:alpha val="25000"/>
            </a:srgbClr>
          </a:solidFill>
          <a:ln w="12700">
            <a:solidFill>
              <a:srgbClr val="D85A30">
                <a:alpha val="5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0" y="341071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4400" y="4041648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your time.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8A6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take Sarovar Restaurant online — together.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1075</TotalTime>
  <Words>1074</Words>
  <Application>Microsoft Office PowerPoint</Application>
  <PresentationFormat>On-screen Show (16:9)</PresentationFormat>
  <Paragraphs>286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Sarovar Restaurant – Website Proposal</dc:title>
  <dc:subject>PptxGenJS Presentation</dc:subject>
  <dc:creator>Sarovar Restaurant</dc:creator>
  <cp:lastModifiedBy>Tridev Acharya</cp:lastModifiedBy>
  <cp:revision>2</cp:revision>
  <dcterms:created xsi:type="dcterms:W3CDTF">2026-04-23T17:43:56Z</dcterms:created>
  <dcterms:modified xsi:type="dcterms:W3CDTF">2026-04-24T11:43:08Z</dcterms:modified>
</cp:coreProperties>
</file>