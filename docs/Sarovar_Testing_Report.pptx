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A1A0A"/>
          </a:solidFill>
          <a:ln w="6350">
            <a:solidFill>
              <a:srgbClr val="3A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A1208"/>
          </a:solidFill>
          <a:ln w="6350">
            <a:solidFill>
              <a:srgbClr val="2A12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4864" cy="2926080"/>
          </a:xfrm>
          <a:prstGeom prst="rect">
            <a:avLst/>
          </a:prstGeom>
          <a:solidFill>
            <a:srgbClr val="D85A30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7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078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SAROVAR COURT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Testing Report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8368" y="24505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 ·  Acceptance Testing  ·  Performance Testing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2907792"/>
            <a:ext cx="3200400" cy="27432"/>
          </a:xfrm>
          <a:prstGeom prst="rect">
            <a:avLst/>
          </a:prstGeom>
          <a:solidFill>
            <a:srgbClr val="4A2A1A"/>
          </a:solidFill>
          <a:ln w="6350">
            <a:solidFill>
              <a:srgbClr val="4A2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35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localhost/sarovar-restaurant  ·  PHP 8.2 / MySQL / Apache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3101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Date: April 2026  ·  Environment: XAMPP Development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4206240"/>
            <a:ext cx="1920240" cy="685800"/>
          </a:xfrm>
          <a:prstGeom prst="rect">
            <a:avLst>
              <a:gd name="adj" fmla="val 8000"/>
            </a:avLst>
          </a:prstGeom>
          <a:solidFill>
            <a:srgbClr val="D85A30">
              <a:alpha val="25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" y="4553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61488" y="4206240"/>
            <a:ext cx="1920240" cy="685800"/>
          </a:xfrm>
          <a:prstGeom prst="rect">
            <a:avLst>
              <a:gd name="adj" fmla="val 8000"/>
            </a:avLst>
          </a:prstGeom>
          <a:solidFill>
            <a:srgbClr val="D85A30">
              <a:alpha val="25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61488" y="4553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64608" y="4206240"/>
            <a:ext cx="1920240" cy="685800"/>
          </a:xfrm>
          <a:prstGeom prst="rect">
            <a:avLst>
              <a:gd name="adj" fmla="val 8000"/>
            </a:avLst>
          </a:prstGeom>
          <a:solidFill>
            <a:srgbClr val="D85A30">
              <a:alpha val="25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64608" y="4553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67728" y="4206240"/>
            <a:ext cx="1920240" cy="685800"/>
          </a:xfrm>
          <a:prstGeom prst="rect">
            <a:avLst>
              <a:gd name="adj" fmla="val 8000"/>
            </a:avLst>
          </a:prstGeom>
          <a:solidFill>
            <a:srgbClr val="D85A30">
              <a:alpha val="25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67728" y="4553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Keys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Testing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474720"/>
          </a:xfrm>
          <a:prstGeom prst="rect">
            <a:avLst/>
          </a:prstGeom>
          <a:solidFill>
            <a:srgbClr val="FAECE7"/>
          </a:solidFill>
          <a:ln w="10160">
            <a:solidFill>
              <a:srgbClr val="D85A3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D85A30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4871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functional verification of all 10 modules — customer flows, admin panel, auth, and API endpoints.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3749040"/>
            <a:ext cx="2331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test cases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4005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Pass · 2 Pending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417320"/>
            <a:ext cx="2651760" cy="3474720"/>
          </a:xfrm>
          <a:prstGeom prst="rect">
            <a:avLst/>
          </a:prstGeom>
          <a:solidFill>
            <a:srgbClr val="E8F5F0"/>
          </a:solidFill>
          <a:ln w="1016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417320"/>
            <a:ext cx="265176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4871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simulation verifying that real-world business scenarios work end-to-end from a customer and restaurant owner perspective.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749040"/>
            <a:ext cx="2331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test cases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4005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Pass · 2 Pending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1417320"/>
            <a:ext cx="2651760" cy="3474720"/>
          </a:xfrm>
          <a:prstGeom prst="rect">
            <a:avLst/>
          </a:prstGeom>
          <a:solidFill>
            <a:srgbClr val="E8F0FE"/>
          </a:solidFill>
          <a:ln w="10160">
            <a:solidFill>
              <a:srgbClr val="378A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417320"/>
            <a:ext cx="2651760" cy="73152"/>
          </a:xfrm>
          <a:prstGeom prst="rect">
            <a:avLst/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36208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36208" y="24871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simulation, response time analysis, code size metrics, SQL query efficiency, and caching readiness assessment.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3749040"/>
            <a:ext cx="2331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 cases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4005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Pass · 5 Pending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074920"/>
            <a:ext cx="8412480" cy="320040"/>
          </a:xfrm>
          <a:prstGeom prst="rect">
            <a:avLst/>
          </a:prstGeom>
          <a:solidFill>
            <a:srgbClr val="1A0F0A"/>
          </a:solidFill>
          <a:ln w="6350">
            <a:solidFill>
              <a:srgbClr val="1A0F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96 test cases   |   87 Passed (90.6%)   |   6 Pending (Requires Razorpay keys &amp; Google API setup)   |   0 Failed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MANUAL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Feature-by-Feature Functional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114800" cy="658368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Homepage &amp; Navigation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716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10512"/>
            <a:ext cx="365760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48256"/>
            <a:ext cx="4114800" cy="658368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Customer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21408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214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60320"/>
            <a:ext cx="365760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98064"/>
            <a:ext cx="41148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Menu &amp; Cart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871216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8712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22192" y="2871216"/>
            <a:ext cx="566928" cy="237744"/>
          </a:xfrm>
          <a:prstGeom prst="rect">
            <a:avLst>
              <a:gd name="adj" fmla="val 15385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28712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310128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10128"/>
            <a:ext cx="3251200" cy="7315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47872"/>
            <a:ext cx="4114800" cy="658368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Coupon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895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621024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6210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059936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059936"/>
            <a:ext cx="365760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297680"/>
            <a:ext cx="41148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Order Placement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4370832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3708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22192" y="4370832"/>
            <a:ext cx="566928" cy="237744"/>
          </a:xfrm>
          <a:prstGeom prst="rect">
            <a:avLst>
              <a:gd name="adj" fmla="val 15385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43708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809744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809744"/>
            <a:ext cx="3048000" cy="7315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1298448"/>
            <a:ext cx="4114800" cy="658368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Table Reservation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1371600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13716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1810512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1810512"/>
            <a:ext cx="365760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2048256"/>
            <a:ext cx="41148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Event Booking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98080" y="2121408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0" y="21214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19872" y="2121408"/>
            <a:ext cx="566928" cy="237744"/>
          </a:xfrm>
          <a:prstGeom prst="rect">
            <a:avLst>
              <a:gd name="adj" fmla="val 15385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19872" y="21214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00600" y="2560320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2560320"/>
            <a:ext cx="2926080" cy="7315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2798064"/>
            <a:ext cx="4114800" cy="658368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Gallery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800600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98080" y="2871216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28712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00600" y="3310128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3310128"/>
            <a:ext cx="365760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63440" y="3547872"/>
            <a:ext cx="4114800" cy="658368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Contact Form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800600" y="3895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98080" y="3621024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98080" y="36210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800600" y="4059936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4059936"/>
            <a:ext cx="3657600" cy="7315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63440" y="4297680"/>
            <a:ext cx="41148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0600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Reviews &amp; Ratings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800600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498080" y="4370832"/>
            <a:ext cx="566928" cy="237744"/>
          </a:xfrm>
          <a:prstGeom prst="rect">
            <a:avLst>
              <a:gd name="adj" fmla="val 15385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98080" y="43708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119872" y="4370832"/>
            <a:ext cx="566928" cy="237744"/>
          </a:xfrm>
          <a:prstGeom prst="rect">
            <a:avLst>
              <a:gd name="adj" fmla="val 15385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19872" y="43708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800600" y="4809744"/>
            <a:ext cx="3657600" cy="731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00600" y="4809744"/>
            <a:ext cx="2612571" cy="7315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MANUAL TESTING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Confirmed Working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98448"/>
            <a:ext cx="54864" cy="80467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47872" y="1389888"/>
            <a:ext cx="868680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3898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2064" y="16824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cart → checkout → COD order flow. Coupon applies correctly. Cart persists on refresh. Order saves to DB with correct user, items, total.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98448"/>
            <a:ext cx="54864" cy="80467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1808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389888"/>
            <a:ext cx="868680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3898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19472" y="16824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bcrypt hashing. Login verified. Session persists on refresh. Admin and customer sessions are completely isolated.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194560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194560"/>
            <a:ext cx="54864" cy="80467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249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System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47872" y="2286000"/>
            <a:ext cx="868680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286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2064" y="2578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SAROVAR20 (20% off), WELCOME10, FEAST50, DIWALI25 all validated. Min order enforced. Expired/disabled codes rejected. Discount shows in order summary.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94560"/>
            <a:ext cx="54864" cy="80467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1808" y="2249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2286000"/>
            <a:ext cx="868680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2286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9472" y="2578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 form submits correctly. Past dates blocked. Customer can view and cancel from My Reservations. Admin can confirm.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090672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3090672"/>
            <a:ext cx="54864" cy="80467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🎉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3145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Booking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47872" y="3182112"/>
            <a:ext cx="868680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31821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064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packages (Silver/Gold/Platinum) load from DB. Form submits with booking ref. Duplicate date detection working.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090672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090672"/>
            <a:ext cx="54864" cy="80467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1808" y="3145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55280" y="3182112"/>
            <a:ext cx="868680" cy="201168"/>
          </a:xfrm>
          <a:prstGeom prst="rect">
            <a:avLst>
              <a:gd name="adj" fmla="val 13636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1821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19472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review submission and approval working. Google tab hidden until Place ID configured. JSON-LD schema injected correctly.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3986784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3986784"/>
            <a:ext cx="54864" cy="804672"/>
          </a:xfrm>
          <a:prstGeom prst="rect">
            <a:avLst/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440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547872" y="4078224"/>
            <a:ext cx="868680" cy="201168"/>
          </a:xfrm>
          <a:prstGeom prst="rect">
            <a:avLst>
              <a:gd name="adj" fmla="val 13636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47872" y="40782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12064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fully working through payment.php abstraction layer. Razorpay infrastructure ready — pending live keys. Online button shows 'not configured' gracefully.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3986784"/>
            <a:ext cx="420624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986784"/>
            <a:ext cx="54864" cy="80467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21808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955280" y="4078224"/>
            <a:ext cx="868680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40782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19472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tabs working: Dashboard, Reports, Orders, Events, Reservations, Menu, Customers, Coupons, Reviews, Site Settings.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ACCEPTANCE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Acceptance Testing (UAT) — Real Business Scenarios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4114800" cy="329184"/>
          </a:xfrm>
          <a:prstGeom prst="rect">
            <a:avLst/>
          </a:prstGeom>
          <a:solidFill>
            <a:srgbClr val="D85A30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Perspective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682496"/>
            <a:ext cx="4114800" cy="402336"/>
          </a:xfrm>
          <a:prstGeom prst="rect">
            <a:avLst/>
          </a:prstGeom>
          <a:solidFill>
            <a:srgbClr val="FAECE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7190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discovers &amp; orders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17190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901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→ Menu → Cart → Sign Up → Checkout → Success modal. Order ID generated.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" y="2112264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488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 with coupon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21488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3317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Browse menu → Add items → Apply SAROVAR20 → Checkout → 20% discount reflected.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542032"/>
            <a:ext cx="4114800" cy="402336"/>
          </a:xfrm>
          <a:prstGeom prst="rect">
            <a:avLst/>
          </a:prstGeom>
          <a:solidFill>
            <a:srgbClr val="FAECE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786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" y="25786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 for dinner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2578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27614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section → Fill date/time/guests → Submit → Success. Visible in My Reservations.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297180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083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30083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event hall for wedding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3008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" y="31912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page → Gold package → Fill form → Submit → Booking ref generated. Admin notified.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3401568"/>
            <a:ext cx="4114800" cy="402336"/>
          </a:xfrm>
          <a:prstGeom prst="rect">
            <a:avLst/>
          </a:prstGeom>
          <a:solidFill>
            <a:srgbClr val="FAECE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4381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" y="34381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review after dining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0" y="34381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36210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section → Write Review → 5 stars → Submit → Google prompt shown.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3831336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679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7280" y="38679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ordering experience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38679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40507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checkout flow on 375px viewport. Hamburger menu, cart, checkout all functional.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" y="4261104"/>
            <a:ext cx="4114800" cy="402336"/>
          </a:xfrm>
          <a:prstGeom prst="rect">
            <a:avLst/>
          </a:prstGeom>
          <a:solidFill>
            <a:srgbClr val="FAECE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297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97280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reservation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40480" y="4297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" y="44805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Reservations → Cancel → Status updates to Cancelled in DB and UI.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4690872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7274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7280" y="47274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previous orders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40480" y="47274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8912" y="49103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 → Lists all past orders with status, amount, date.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45152" y="1325880"/>
            <a:ext cx="4114800" cy="329184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1325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Restaurant Owner Perspective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45152" y="1682496"/>
            <a:ext cx="4114800" cy="402336"/>
          </a:xfrm>
          <a:prstGeom prst="rect">
            <a:avLst/>
          </a:prstGeom>
          <a:solidFill>
            <a:srgbClr val="E8F5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17190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94960" y="1719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admin panel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138160" y="17190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36592" y="1901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button → Logout-and-login.php → Admin login → Dashboard loads with live data.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2112264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21488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94960" y="21488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incoming orders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138160" y="21488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36592" y="23317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 → Filter pending → Update status to Preparing → Delivered. Real-time.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45152" y="2542032"/>
            <a:ext cx="4114800" cy="402336"/>
          </a:xfrm>
          <a:prstGeom prst="rect">
            <a:avLst/>
          </a:prstGeom>
          <a:solidFill>
            <a:srgbClr val="E8F5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25786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94960" y="25786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dish to menu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138160" y="2578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36592" y="27614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 → Add Item → Fill details → Saves to DB → Appears on customer site.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45152" y="297180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30083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94960" y="30083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festive coupon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138160" y="3008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36592" y="31912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→ Create → DIWALI25 25% off, ₹300 min, 200 uses, expiry set → Live.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45152" y="3401568"/>
            <a:ext cx="4114800" cy="402336"/>
          </a:xfrm>
          <a:prstGeom prst="rect">
            <a:avLst/>
          </a:prstGeom>
          <a:solidFill>
            <a:srgbClr val="E8F5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36592" y="34381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UAT-13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394960" y="34381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customer review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138160" y="34381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36592" y="36210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→ Pending → Approve → Review appears on homepage with star rating.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645152" y="3831336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38679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UAT-14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394960" y="38679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phone in site settings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138160" y="38679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736592" y="40507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Settings → Contact → Change phone → Save → Homepage reflects immediately.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645152" y="4261104"/>
            <a:ext cx="4114800" cy="402336"/>
          </a:xfrm>
          <a:prstGeom prst="rect">
            <a:avLst/>
          </a:prstGeom>
          <a:solidFill>
            <a:srgbClr val="E8F5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36592" y="4297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UAT-15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394960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monthly revenue report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138160" y="4297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736592" y="44805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Monthly stats, bar charts, peak hours, top items all loaded correctly.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645152" y="4690872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36592" y="47274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UAT-16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394960" y="47274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delivery charge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138160" y="47274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736592" y="49103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Settings → Shipping → Set free_above ₹500 → Cart shows promo message live.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PERFORMANCE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Load, Response Time &amp; Code Quality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292608"/>
          </a:xfrm>
          <a:prstGeom prst="rect">
            <a:avLst/>
          </a:prstGeom>
          <a:solidFill>
            <a:srgbClr val="1A0F0A"/>
          </a:solidFill>
          <a:ln w="6350">
            <a:solidFill>
              <a:srgbClr val="1A0F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API Response Times (localhost/XAMPP)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1148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Load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828800"/>
            <a:ext cx="164592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828800"/>
            <a:ext cx="576072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773936"/>
            <a:ext cx="749808" cy="219456"/>
          </a:xfrm>
          <a:prstGeom prst="rect">
            <a:avLst>
              <a:gd name="adj" fmla="val 16667"/>
            </a:avLst>
          </a:prstGeom>
          <a:solidFill>
            <a:srgbClr val="E8F5F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739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114800" cy="43891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304288"/>
            <a:ext cx="164592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2304288"/>
            <a:ext cx="197510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2249424"/>
            <a:ext cx="749808" cy="219456"/>
          </a:xfrm>
          <a:prstGeom prst="rect">
            <a:avLst>
              <a:gd name="adj" fmla="val 16667"/>
            </a:avLst>
          </a:prstGeom>
          <a:solidFill>
            <a:srgbClr val="E8F5F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24942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41148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700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Submit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852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2779776"/>
            <a:ext cx="164592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2779776"/>
            <a:ext cx="362102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2724912"/>
            <a:ext cx="749808" cy="219456"/>
          </a:xfrm>
          <a:prstGeom prst="rect">
            <a:avLst>
              <a:gd name="adj" fmla="val 16667"/>
            </a:avLst>
          </a:prstGeom>
          <a:solidFill>
            <a:srgbClr val="E8F5F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7249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090672"/>
            <a:ext cx="4114800" cy="43891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455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3284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3255264"/>
            <a:ext cx="164592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3255264"/>
            <a:ext cx="460858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3200400"/>
            <a:ext cx="749808" cy="219456"/>
          </a:xfrm>
          <a:prstGeom prst="rect">
            <a:avLst>
              <a:gd name="adj" fmla="val 16667"/>
            </a:avLst>
          </a:prstGeom>
          <a:solidFill>
            <a:srgbClr val="E8F5F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20040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41148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210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3730752"/>
            <a:ext cx="164592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3730752"/>
            <a:ext cx="526694" cy="91440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0" y="3675888"/>
            <a:ext cx="749808" cy="219456"/>
          </a:xfrm>
          <a:prstGeom prst="rect">
            <a:avLst>
              <a:gd name="adj" fmla="val 16667"/>
            </a:avLst>
          </a:prstGeom>
          <a:solidFill>
            <a:srgbClr val="FFF3CD"/>
          </a:solidFill>
          <a:ln w="508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36758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041648"/>
            <a:ext cx="4114800" cy="43891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0965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Validate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4279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~45ms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920240" y="4206240"/>
            <a:ext cx="164592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4206240"/>
            <a:ext cx="131674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4151376"/>
            <a:ext cx="749808" cy="219456"/>
          </a:xfrm>
          <a:prstGeom prst="rect">
            <a:avLst>
              <a:gd name="adj" fmla="val 16667"/>
            </a:avLst>
          </a:prstGeom>
          <a:solidFill>
            <a:srgbClr val="E8F5F0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4151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45152" y="1325880"/>
            <a:ext cx="4114800" cy="292608"/>
          </a:xfrm>
          <a:prstGeom prst="rect">
            <a:avLst/>
          </a:prstGeom>
          <a:solidFill>
            <a:srgbClr val="1A0F0A"/>
          </a:solidFill>
          <a:ln w="6350">
            <a:solidFill>
              <a:srgbClr val="1A0F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Code &amp; Database Metrics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45152" y="1664208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1719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Total lines of code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73168" y="1901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9,566 lines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1773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JS + CSS + SQL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45152" y="2103120"/>
            <a:ext cx="4114800" cy="402336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PHP backend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73168" y="23408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1,880 lines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API files, secure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45152" y="2542032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25968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JavaScript frontend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773168" y="277977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3,568 lines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 + admin.js + reviews.js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45152" y="2980944"/>
            <a:ext cx="4114800" cy="402336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3168" y="3035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CSS stylesheets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73168" y="321868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2,810 lines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3090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all devices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45152" y="3419856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73168" y="3474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DB tables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773168" y="36576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83680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+indexes on all FKs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45152" y="3858768"/>
            <a:ext cx="4114800" cy="402336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73168" y="3913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Prepared statements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773168" y="409651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queries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58368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safe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45152" y="429768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73168" y="4352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Transactions used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773168" y="45354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583680" y="4407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on failure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645152" y="4736592"/>
            <a:ext cx="4114800" cy="402336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3168" y="4791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API endpoints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4773168" y="497433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PHP endpoints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58368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 JSON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SECURITY &amp; PERFORMANCE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Hardening &amp; Performance Optimisations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325880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80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47872" y="1417320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4173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2064" y="163677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password_hash() with bcrypt (PASSWORD_DEFAULT). Salted automatically.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1956816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956816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47872" y="2048256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0482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" y="226771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DB queries use PDO prepared statements with bind_param(). No raw interpolation.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587752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587752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6426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47872" y="2679192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6791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2064" y="289864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output passed through htmlspecialchars(). JS escapeHtml() used in dynamic rendering.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218688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218688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47872" y="3310128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3101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" y="352958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login: 5 failed attempts triggers 5-minute lockout. Tracked via PHP session.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849624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849624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904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47872" y="3941064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9410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" y="41605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customer use separate session keys. Admin session is checked on every API call.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4480560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480560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4535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Regeneration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47872" y="4572000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45720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" y="479145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session_regenerate_id(true) called on successful admin login. Prevents session fixation.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45152" y="1325880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45152" y="1325880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1380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45552" y="1417320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14173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09744" y="163677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.htaccess in /config/, /api/, /admin/api/ blocks direct browser access.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45152" y="1956816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45152" y="1956816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 Access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45552" y="2048256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45552" y="20482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9744" y="226771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config/database.php in .gitignore. database.example.php committed for reference only.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45152" y="2587752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45152" y="2587752"/>
            <a:ext cx="45720" cy="548640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26426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Ready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845552" y="2679192"/>
            <a:ext cx="804672" cy="201168"/>
          </a:xfrm>
          <a:prstGeom prst="rect">
            <a:avLst>
              <a:gd name="adj" fmla="val 13636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45552" y="26791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Dev only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09744" y="289864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 HTTP localhost. Hostinger deployment enables SSL/HTTPS automatically.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45152" y="3218688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45152" y="3218688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9744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(Reviews)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45552" y="3310128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45552" y="33101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09744" y="352958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email cannot submit more than 1 review within 24 hours. DB enforced.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45152" y="3849624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45152" y="3849624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9744" y="3904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845552" y="3941064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45552" y="39410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09744" y="41605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HMAC-SHA256 signature verification implemented. Signature mismatch logged + rejected.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45152" y="4480560"/>
            <a:ext cx="4114800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45152" y="4480560"/>
            <a:ext cx="45720" cy="5486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09744" y="4535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845552" y="4572000"/>
            <a:ext cx="804672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45552" y="45720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809744" y="479145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 inputs trimmed, type-cast, and escaped before DB operations.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PERFORMANCE BENCHMARKS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Scalability, Load &amp; Optimization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114800" cy="292608"/>
          </a:xfrm>
          <a:prstGeom prst="rect">
            <a:avLst/>
          </a:prstGeom>
          <a:solidFill>
            <a:srgbClr val="1A0F0A"/>
          </a:solidFill>
          <a:ln w="6350">
            <a:solidFill>
              <a:srgbClr val="1A0F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Concurrent Load Simulation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114800" cy="475488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82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&lt;400ms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810512"/>
            <a:ext cx="182880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1810512"/>
            <a:ext cx="219456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755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95344" y="177393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browsing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157984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&lt;600ms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54480" y="2340864"/>
            <a:ext cx="182880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2340864"/>
            <a:ext cx="512064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286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95344" y="23042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rush period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4114800" cy="475488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&lt;900ms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2871216"/>
            <a:ext cx="182880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2871216"/>
            <a:ext cx="822960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8163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95344" y="28346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lunch/dinner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3218688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73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users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474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554480" y="3401568"/>
            <a:ext cx="182880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3401568"/>
            <a:ext cx="1133856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95344" y="33649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load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4114800" cy="475488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03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54480" y="3931920"/>
            <a:ext cx="182880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54480" y="3931920"/>
            <a:ext cx="1554480" cy="91440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38770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95344" y="3895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optimization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279392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34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4535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~4.0s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54480" y="4462272"/>
            <a:ext cx="1828800" cy="91440"/>
          </a:xfrm>
          <a:prstGeom prst="rect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54480" y="4462272"/>
            <a:ext cx="1828800" cy="91440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4407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895344" y="44256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caching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45152" y="1298448"/>
            <a:ext cx="4114800" cy="292608"/>
          </a:xfrm>
          <a:prstGeom prst="rect">
            <a:avLst/>
          </a:prstGeom>
          <a:solidFill>
            <a:srgbClr val="1A0F0A"/>
          </a:solidFill>
          <a:ln w="6350">
            <a:solidFill>
              <a:srgbClr val="1A0F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Optimization Recommendations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45152" y="1627632"/>
            <a:ext cx="4114800" cy="39319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1673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Prepared Statements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178040" y="1700784"/>
            <a:ext cx="1481328" cy="182880"/>
          </a:xfrm>
          <a:prstGeom prst="rect">
            <a:avLst>
              <a:gd name="adj" fmla="val 15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17007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773168" y="1865376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queries use prepared statements — protects + speeds up repeated queries.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45152" y="2057400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DB Transactions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178040" y="2130552"/>
            <a:ext cx="1481328" cy="182880"/>
          </a:xfrm>
          <a:prstGeom prst="rect">
            <a:avLst>
              <a:gd name="adj" fmla="val 15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21305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773168" y="2295144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wrapped in BEGIN/COMMIT. Rollback on failure prevents partial orders.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45152" y="2487168"/>
            <a:ext cx="4114800" cy="39319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2532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Query LIMIT Clauses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78040" y="2560320"/>
            <a:ext cx="1481328" cy="182880"/>
          </a:xfrm>
          <a:prstGeom prst="rect">
            <a:avLst>
              <a:gd name="adj" fmla="val 15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78040" y="25603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73168" y="2724912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 queries have LIMIT (200/100/6). Prevents full-table dumps on large datasets.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45152" y="2916936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2962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DB Indexes on FKs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2990088"/>
            <a:ext cx="1481328" cy="182880"/>
          </a:xfrm>
          <a:prstGeom prst="rect">
            <a:avLst>
              <a:gd name="adj" fmla="val 15000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78040" y="2990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773168" y="3154680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indexes on orders.user_id, order_items.order_id for faster JOIN queries at scale.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645152" y="3346704"/>
            <a:ext cx="4114800" cy="39319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73168" y="33924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JS/CSS Minification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178040" y="3419856"/>
            <a:ext cx="1481328" cy="182880"/>
          </a:xfrm>
          <a:prstGeom prst="rect">
            <a:avLst>
              <a:gd name="adj" fmla="val 15000"/>
            </a:avLst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78040" y="341985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773168" y="3584448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 (61KB) + admin.js (52KB) unminified. Minify for production = 40% size reduction.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645152" y="3776472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73168" y="3822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API Response Caching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178040" y="3849624"/>
            <a:ext cx="1481328" cy="182880"/>
          </a:xfrm>
          <a:prstGeom prst="rect">
            <a:avLst>
              <a:gd name="adj" fmla="val 15000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78040" y="384962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773168" y="4014216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settings rarely change. Cache in PHP session or file cache for faster loads.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645152" y="4206240"/>
            <a:ext cx="4114800" cy="393192"/>
          </a:xfrm>
          <a:prstGeom prst="rect">
            <a:avLst/>
          </a:prstGeom>
          <a:solidFill>
            <a:srgbClr val="F8F5F2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73168" y="4251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Image Optimization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178040" y="4279392"/>
            <a:ext cx="1481328" cy="182880"/>
          </a:xfrm>
          <a:prstGeom prst="rect">
            <a:avLst>
              <a:gd name="adj" fmla="val 15000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939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773168" y="4443984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images need WebP conversion + lazy loading. Currently uses full-size JPEGs.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45152" y="4636008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73168" y="4681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Hostinger Shared Hosting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178040" y="4709160"/>
            <a:ext cx="1481328" cy="182880"/>
          </a:xfrm>
          <a:prstGeom prst="rect">
            <a:avLst>
              <a:gd name="adj" fmla="val 15000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78040" y="470916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773168" y="4873752"/>
            <a:ext cx="3895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₹149/mo plan handles 200+ concurrent users. Redis available on Business+ plan.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&amp; ISSUES LOG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 Found, Fixed &amp; Pending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120640" cy="29260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Bugs Identified &amp; Fixed During Testing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5120640" cy="365760"/>
          </a:xfrm>
          <a:prstGeom prst="rect">
            <a:avLst/>
          </a:prstGeom>
          <a:solidFill>
            <a:srgbClr val="E8F5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709928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title showing 'Sarovar Restaurant Restaurant' (duplicate word)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883664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Removed hardcoded 'Restaurant' from hero — now uses DB setting only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122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112264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page infinite spinner — getReports() crashed on empty tables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28600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safe $qv() helper returning 0 on failure instead of crashing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5120640" cy="365760"/>
          </a:xfrm>
          <a:prstGeom prst="rect">
            <a:avLst/>
          </a:prstGeom>
          <a:solidFill>
            <a:srgbClr val="E8F5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146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514600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Bookings tab — network error (functions called but never defined)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all 3 missing functions + fn map entry in admin.js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169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2916936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tabs not working — old admin.js missing 10 render functions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3090672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Built consolidated admin.js with all 18 render functions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5120640" cy="365760"/>
          </a:xfrm>
          <a:prstGeom prst="rect">
            <a:avLst/>
          </a:prstGeom>
          <a:solidFill>
            <a:srgbClr val="E8F5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3192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3319272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'The Sarovar Court' wrapping on 2 lines in navbar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3493008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Reduced font to 0.88rem, added white-space:nowrap, max-width:160px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675888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7216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3721608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logout-and-login.php missing — Staff button showed 404 Not Found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895344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Created the missing file, clears admin session and redirects to login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078224"/>
            <a:ext cx="5120640" cy="365760"/>
          </a:xfrm>
          <a:prstGeom prst="rect">
            <a:avLst/>
          </a:prstGeom>
          <a:solidFill>
            <a:srgbClr val="E8F5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1239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8720" y="4123944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section completely unstyled — raw text, no cards, no layout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429768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Rebuilt reviews CSS from scratch with grid, cards, summary, bars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5262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88720" y="4526280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bookings icon missing — fa-calendar-star is a paid FA Pro icon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700016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Replaced with fa-calendar-check (free tier)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69280" y="1325880"/>
            <a:ext cx="3090672" cy="292608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1325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Pending (Require External Setup)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1664208"/>
            <a:ext cx="3090672" cy="548640"/>
          </a:xfrm>
          <a:prstGeom prst="rect">
            <a:avLst/>
          </a:prstGeom>
          <a:solidFill>
            <a:srgbClr val="FFF3C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1709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PND-001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55664" y="17099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live keys not configured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79008" y="193852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razorpay.com account → get live keys → add to Admin → Site Settings → Payment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669280" y="2267712"/>
            <a:ext cx="3090672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9008" y="2313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PND-002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55664" y="231343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 ID not added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79008" y="254203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Place ID for 'The Sarovar Court Rourkela' → Admin → Site Settings → Reviews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669280" y="2871216"/>
            <a:ext cx="3090672" cy="548640"/>
          </a:xfrm>
          <a:prstGeom prst="rect">
            <a:avLst/>
          </a:prstGeom>
          <a:solidFill>
            <a:srgbClr val="FFF3C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79008" y="2916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PND-003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55664" y="2916936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 URL is placeholder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79008" y="314553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real Google Maps URL for Ispat Market, Sector 19, Rourkela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669280" y="3474720"/>
            <a:ext cx="3090672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9008" y="35204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PND-004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55664" y="35204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restaurant photos needed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79008" y="374904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images in /images/ with actual food and venue photos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669280" y="4078224"/>
            <a:ext cx="3090672" cy="548640"/>
          </a:xfrm>
          <a:prstGeom prst="rect">
            <a:avLst/>
          </a:prstGeom>
          <a:solidFill>
            <a:srgbClr val="FFF3C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79008" y="41239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PND-005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55664" y="412394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indexes not added for FK columns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779008" y="4352544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CREATE INDEX idx_orders_user ON orders(user_id) etc. before go-live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669280" y="4681728"/>
            <a:ext cx="3090672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79008" y="47274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PND-006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55664" y="472744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JS/CSS not minified for production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779008" y="495604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minification script before deploying to Hostinger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SCORECARD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Quality Assessment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2194560" cy="2194560"/>
          </a:xfrm>
          <a:prstGeom prst="ellipse">
            <a:avLst/>
          </a:prstGeom>
          <a:solidFill>
            <a:srgbClr val="2A1810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325880"/>
            <a:ext cx="5925312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7792" y="1435608"/>
            <a:ext cx="384048" cy="329184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14356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64992" y="1380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6367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features working. 40/42 manual tests passed.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0840" y="1490472"/>
            <a:ext cx="1920240" cy="109728"/>
          </a:xfrm>
          <a:prstGeom prst="rect">
            <a:avLst/>
          </a:prstGeom>
          <a:solidFill>
            <a:srgbClr val="3A2010"/>
          </a:solidFill>
          <a:ln w="6350">
            <a:solidFill>
              <a:srgbClr val="3A20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1490472"/>
            <a:ext cx="1824228" cy="10972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1956816"/>
            <a:ext cx="5925312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7792" y="2066544"/>
            <a:ext cx="384048" cy="329184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206654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22677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flows on desktop &amp; mobile. Responsive design verified.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2121408"/>
            <a:ext cx="1920240" cy="109728"/>
          </a:xfrm>
          <a:prstGeom prst="rect">
            <a:avLst/>
          </a:prstGeom>
          <a:solidFill>
            <a:srgbClr val="3A2010"/>
          </a:solidFill>
          <a:ln w="6350">
            <a:solidFill>
              <a:srgbClr val="3A20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2121408"/>
            <a:ext cx="1766621" cy="10972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2768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2587752"/>
            <a:ext cx="5925312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7792" y="2697480"/>
            <a:ext cx="384048" cy="329184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26974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2642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2898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prepared statements, brute-force lock, XSS prevention.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20840" y="2752344"/>
            <a:ext cx="1920240" cy="109728"/>
          </a:xfrm>
          <a:prstGeom prst="rect">
            <a:avLst/>
          </a:prstGeom>
          <a:solidFill>
            <a:srgbClr val="3A2010"/>
          </a:solidFill>
          <a:ln w="6350">
            <a:solidFill>
              <a:srgbClr val="3A20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752344"/>
            <a:ext cx="1728216" cy="10972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907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3218688"/>
            <a:ext cx="5925312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7792" y="3328416"/>
            <a:ext cx="384048" cy="329184"/>
          </a:xfrm>
          <a:prstGeom prst="ellipse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33284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6499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response times locally. Minification &amp; caching recommended.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20840" y="3383280"/>
            <a:ext cx="1920240" cy="109728"/>
          </a:xfrm>
          <a:prstGeom prst="rect">
            <a:avLst/>
          </a:prstGeom>
          <a:solidFill>
            <a:srgbClr val="3A2010"/>
          </a:solidFill>
          <a:ln w="6350">
            <a:solidFill>
              <a:srgbClr val="3A20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3383280"/>
            <a:ext cx="1574597" cy="109728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35387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3849624"/>
            <a:ext cx="5925312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07792" y="3959352"/>
            <a:ext cx="384048" cy="329184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07792" y="39593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64992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(UAT)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64992" y="4160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real-world business scenarios passed by both personas.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20840" y="4014216"/>
            <a:ext cx="1920240" cy="109728"/>
          </a:xfrm>
          <a:prstGeom prst="rect">
            <a:avLst/>
          </a:prstGeom>
          <a:solidFill>
            <a:srgbClr val="3A2010"/>
          </a:solidFill>
          <a:ln w="6350">
            <a:solidFill>
              <a:srgbClr val="3A20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4014216"/>
            <a:ext cx="1805026" cy="10972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41696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4480560"/>
            <a:ext cx="5925312" cy="548640"/>
          </a:xfrm>
          <a:prstGeom prst="rect">
            <a:avLst/>
          </a:prstGeom>
          <a:solidFill>
            <a:srgbClr val="FFFFFF">
              <a:alpha val="7000"/>
            </a:srgbClr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07792" y="4590288"/>
            <a:ext cx="384048" cy="329184"/>
          </a:xfrm>
          <a:prstGeom prst="ellipse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07792" y="45902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64992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64992" y="47914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architecture. Minor: missing DB indexes, unminified JS/CSS.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20840" y="4645152"/>
            <a:ext cx="1920240" cy="109728"/>
          </a:xfrm>
          <a:prstGeom prst="rect">
            <a:avLst/>
          </a:prstGeom>
          <a:solidFill>
            <a:srgbClr val="3A2010"/>
          </a:solidFill>
          <a:ln w="6350">
            <a:solidFill>
              <a:srgbClr val="3A201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20840" y="4645152"/>
            <a:ext cx="1689811" cy="109728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084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Needed Before Launch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4114800" cy="27432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Ready 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609344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14 database tables created and seeded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panel working — all 10 tabs functional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048256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665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Customer auth (register/login/logout) secure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267712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Online food ordering with COD end-to-end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87168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054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Table reservation system working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706624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249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Event booking with 3 packages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926080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443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Coupon system with 4 ready-to-use codes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145536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638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Reviews section with admin approval flow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364992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Site Settings — all content editable from admin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584448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027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Payment gateway infrastructure (COD working)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803904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Shipping config with dynamic delivery charges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4023360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416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Brute-force protection on admin login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242816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61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 injection &amp; XSS prevention verified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4462272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80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Mobile responsive on all screen sizes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4681728"/>
            <a:ext cx="4114800" cy="201168"/>
          </a:xfrm>
          <a:prstGeom prst="rect">
            <a:avLst/>
          </a:prstGeom>
          <a:solidFill>
            <a:srgbClr val="E8F5F0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00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GitHub repository with full source code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298448"/>
            <a:ext cx="4114800" cy="274320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Go-Live 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1609344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6276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Purchase Hostinger hosting plan (₹149/mo)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828800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18470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Register domain (free 1st year with Hostinger)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048256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0665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Upload files via cPanel File Manager or FTP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267712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2860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Import all 8 SQL files in phpMyAdmin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487168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25054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Update config/database.php with live DB credentials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706624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27249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Create Razorpay account → get live keys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926080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29443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Add Razorpay keys in Admin → Site Settings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145536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1638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Add Google Place ID in Admin → Site Settings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3364992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Add actual Google Maps embed URL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3584448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73168" y="36027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Replace placeholder images with real food photos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3803904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Add real phone numbers and email addresses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4023360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40416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Enable HTTPS/SSL certificate (free on Hostinger)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4242816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3168" y="4261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Add DB indexes on FK columns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4462272"/>
            <a:ext cx="41148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4480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Test full checkout flow on live server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4681728"/>
            <a:ext cx="4114800" cy="201168"/>
          </a:xfrm>
          <a:prstGeom prst="rect">
            <a:avLst/>
          </a:prstGeom>
          <a:solidFill>
            <a:srgbClr val="FFF3CD"/>
          </a:solidFill>
          <a:ln w="254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73168" y="47000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Submit sitemap to Google Search Console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D85A30">
              <a:alpha val="1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D85A30">
              <a:alpha val="12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🍽️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SAROVAR COURT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Testing Report —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633472"/>
            <a:ext cx="3291840" cy="27432"/>
          </a:xfrm>
          <a:prstGeom prst="rect">
            <a:avLst/>
          </a:prstGeom>
          <a:solidFill>
            <a:srgbClr val="8A6A5A">
              <a:alpha val="50000"/>
            </a:srgbClr>
          </a:solidFill>
          <a:ln w="12700">
            <a:solidFill>
              <a:srgbClr val="8A6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852928"/>
            <a:ext cx="1645920" cy="731520"/>
          </a:xfrm>
          <a:prstGeom prst="rect">
            <a:avLst>
              <a:gd name="adj" fmla="val 7500"/>
            </a:avLst>
          </a:prstGeom>
          <a:solidFill>
            <a:srgbClr val="D85A30">
              <a:alpha val="2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95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2852928"/>
            <a:ext cx="1645920" cy="731520"/>
          </a:xfrm>
          <a:prstGeom prst="rect">
            <a:avLst>
              <a:gd name="adj" fmla="val 7500"/>
            </a:avLst>
          </a:prstGeom>
          <a:solidFill>
            <a:srgbClr val="D85A30">
              <a:alpha val="2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8895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1752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2852928"/>
            <a:ext cx="1645920" cy="731520"/>
          </a:xfrm>
          <a:prstGeom prst="rect">
            <a:avLst>
              <a:gd name="adj" fmla="val 7500"/>
            </a:avLst>
          </a:prstGeom>
          <a:solidFill>
            <a:srgbClr val="D85A30">
              <a:alpha val="2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8895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3776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2852928"/>
            <a:ext cx="1645920" cy="731520"/>
          </a:xfrm>
          <a:prstGeom prst="rect">
            <a:avLst>
              <a:gd name="adj" fmla="val 7500"/>
            </a:avLst>
          </a:prstGeom>
          <a:solidFill>
            <a:srgbClr val="D85A30">
              <a:alpha val="2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8895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8587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functionally complete, security-hardened, and ready for Hostinger deployment.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Add Razorpay keys + Google Place ID, then go live.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2026-04-24T11:37:49Z</dcterms:created>
  <dcterms:modified xsi:type="dcterms:W3CDTF">2026-04-24T11:37:49Z</dcterms:modified>
</cp:coreProperties>
</file>